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thesis: the information already exists inside the bank. It is held in systems that do not speak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positions, each within its own limit, nothing flagged. This is what a wealth platform shows today. Pause here before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click resolves the six positions into a single correlated bet. His mandate is Balanced, so the single-position limit is 12% (mandates.csv, BAL) — and three positions already breach it: the Mid-Levels apartment at 19.58%, a Pacific Rim Bank perpetual at 17.57%, and the Golden Harbour perpetual at 12.87%. The 49% is the aggregate across four correlated positions, which no mandate rule measures at all. That gap is the point. Pause after the limit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systems each report no problem. The Relationship Manager had already identified the correlation herself and recorded it on 5 March. Nothing read that note against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 read all twelve source files together. Every figure is computed in Python; the model narrates and translates but never originates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Suitability correctly identifies a critical breach. The Relationship agent objects on a dated client instruction, and the gate holds the finding with a reason and a revisit date. The system can overrule its own analysis when a human fact requires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what could happen next, and the answer works at two scales. Per client, the loan-to-value figures are computed from the actual credit facility under collateral shocks. Across the book, four macro scenarios re-rank all twenty clients in place — a Middle East oil shock moves Lau to the top of the list. If asked: the scenario definitions are ours, and every figure quoted inside them is read from the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gaps and compliance dates are computed from the data. Greetings are drafted for the RM to select; the system does not assume a client observes any particular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contains deliberate production artefacts. Each is handled in named code, and a single command reproduces every headline figure with its source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Preserving the central role of the Relationship Manager is a rubric criterion. Here it is architectural: the Relationship agent is the only one able to veto another, and no client communication is sent without RM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relationship agent currently runs on written RM notes; a consented transcript is the next input channel. Consent capture is built. No transcript exists in the supplied dataset, so none was fabricated.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sentences, then let the four numbers sit on screen through questions. Every one of them is read from the run, not asserted: seven of twenty clients had an RM note change the answer, six findings were held with a reason and a revisit date, forty-eight findings came from six agents, and USD 8.50m of idle cash sits above mandate.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already knows. It has never told anyone.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Julius Baer · Wealth Intelligence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Labs · SingHacks 2026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200" kern="0" dirty="0">
                <a:solidFill>
                  <a:srgbClr val="4A5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clients · 6 agents · 12 data files · 28 RM notes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HOLDINGS. EVERY ONE INSIDE ITS LIMIT.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Chi Ming holds an apartment, a share, a bond and a derivative.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shows six tidy rows. Nothing is flagged, because nothing 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breaks a rule.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every wealth platform shows today.</a:t>
            </a:r>
            <a:endParaRPr lang="en-US" sz="1750" dirty="0"/>
          </a:p>
        </p:txBody>
      </p:sp>
      <p:pic>
        <p:nvPicPr>
          <p:cNvPr id="6" name="Image 0" descr="screens/c-reveal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63040"/>
            <a:ext cx="5943600" cy="2048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Client 360 → Exposure, before the reveal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LATER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 wealth is one Hong Kong property bet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661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product hid the exposure behind a wrapper.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same asset.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career is Hong Kong property development.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owes HKD 60m to a project in November.</a:t>
            </a:r>
            <a:endParaRPr lang="en-US" sz="1500" dirty="0"/>
          </a:p>
        </p:txBody>
      </p:sp>
      <p:pic>
        <p:nvPicPr>
          <p:cNvPr id="6" name="Image 0" descr="screens/c-reveal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17320"/>
            <a:ext cx="59436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39319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spc="8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positions already breach the 12% single-position limit — and no mandate rule measures the other 49%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SAW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THAT NEVER SPEAK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5" name="Image 0" descr="icons/exposur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holdings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0" name="Image 1" descr="icons/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03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SYSTEM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loan, well covered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5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1031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nobody queries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10881360" cy="1874520"/>
          </a:xfrm>
          <a:prstGeom prst="roundRect">
            <a:avLst>
              <a:gd name="adj" fmla="val 2927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6012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5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Relationship Manager had already worked it out.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4526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perpetual, the shares, the accumulator and his own development business are all the same bet.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said that is why he is confident.”</a:t>
            </a:r>
            <a:endParaRPr lang="en-US" sz="165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766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rm_notes.json · N-018 · 5 March 2026 · P. Ong    —    typed, filed, and never read against the numbers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READ ALL TWELVE FILES TOGETHER</a:t>
            </a:r>
            <a:endParaRPr lang="en-US" sz="3400" dirty="0"/>
          </a:p>
        </p:txBody>
      </p:sp>
      <p:pic>
        <p:nvPicPr>
          <p:cNvPr id="4" name="Image 0" descr="screens/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77440"/>
            <a:ext cx="10881360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6" name="Image 1" descr="icons/monitor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4082796"/>
            <a:ext cx="265176" cy="265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MONITOR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2455164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0" name="Image 2" descr="icons/exposu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4082796"/>
            <a:ext cx="265176" cy="2651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55164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EXPOSURE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2455164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really hold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70248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4" name="Image 3" descr="icons/resilienc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4082796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70248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RESILIENCE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270248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5332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8" name="Image 4" descr="icons/opportunity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082796"/>
            <a:ext cx="265176" cy="265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085332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OPPORTUNITY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6085332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unclaimed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900416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22" name="Image 5" descr="icons/suitability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572" y="4082796"/>
            <a:ext cx="265176" cy="2651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00416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SUITABILITY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7900416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or authorised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9715500" y="3977640"/>
            <a:ext cx="475488" cy="475488"/>
          </a:xfrm>
          <a:prstGeom prst="ellipse">
            <a:avLst/>
          </a:prstGeom>
          <a:solidFill>
            <a:srgbClr val="F6EFDC"/>
          </a:solidFill>
          <a:ln/>
        </p:spPr>
      </p:sp>
      <p:pic>
        <p:nvPicPr>
          <p:cNvPr id="26" name="Image 6" descr="icons/relationship-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4082796"/>
            <a:ext cx="265176" cy="2651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1550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RELATIONSHIP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971550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say it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compute. Agents narrate. No agent originates a number.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gat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OVERRULES ITSELF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calls Margarethe a critical breach: 71.46% equity against a 10–30% band. It is right. Relationship objects — she was widowed six months ago and asked that nothing be changed. The gate holds the finding, and gives the RM a different door in.</a:t>
            </a:r>
            <a:endParaRPr lang="en-US" sz="1600" dirty="0"/>
          </a:p>
        </p:txBody>
      </p:sp>
      <p:pic>
        <p:nvPicPr>
          <p:cNvPr id="6" name="Image 1" descr="screens/c-de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697480"/>
            <a:ext cx="8659368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Desk — every objection is extracted from a dated, attributed RM note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AND THE WHOLE BOOK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loan is secured on the very thing he is concentrated in,</a:t>
            </a:r>
            <a:endParaRPr lang="en-US" sz="16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selling to raise cash makes the ratio worse, not better.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HIS CREDIT FILE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015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3467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69.41%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38953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73.06%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98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77.12%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992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86.76%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74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pic>
        <p:nvPicPr>
          <p:cNvPr id="17" name="Image 0" descr="screens/c-sim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91640"/>
            <a:ext cx="5943600" cy="27249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23560" y="4572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SHOCK ACROSS ALL TWENTY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48920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macro scenarios re-rank the book in place. Selecting a Middle East oil shock moves Lau to the top of Priscilla’s list, and Elena with him on commodities.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loan-to-value computed from the credit facility under collateral shocks. Right: scenario definitions are ours; every figure quoted inside them is read from the dataset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el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 OF THE JOB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REASON TO CALL IS A RISK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engine only ever tells her something is wrong. Much of an RM’s job is the opposite — a relationship reason to call when no finding is outstanding: months of silence, a review falling due, a holiday in the client’s own jurisdiction.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7" name="Image 1" descr="icons/c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163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0266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anyone spoke to Grace Adeyemi-Lim — USD 19.1m, and no finding is above threshold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1" name="Image 2" descr="icons/bell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215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4078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4074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Tan Boon Huat’s review falls due, on the anniversary of a 23-year relationship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5" name="Image 3" descr="icons/glob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669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Mid-Autumn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5458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holiday in the Hong Kong booking centre — greeting drafted, the RM chooses who receives it</a:t>
            </a:r>
            <a:endParaRPr lang="en-US" sz="1300" dirty="0"/>
          </a:p>
        </p:txBody>
      </p:sp>
      <p:pic>
        <p:nvPicPr>
          <p:cNvPr id="18" name="Image 4" descr="screens/c-concier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371600"/>
            <a:ext cx="2331720" cy="4782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Relationship Concierge — contact gaps and compliance dates are computed from the data; greetings are drafted for the RM to choose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BANK COULD RUN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984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data traps in the dataset, each handled in named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07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127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every one carrying its file, row and dated note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50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270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— python backend/verify.py — prints every claim with its source rows</a:t>
            </a:r>
            <a:endParaRPr lang="en-US" sz="1500" dirty="0"/>
          </a:p>
        </p:txBody>
      </p:sp>
      <p:pic>
        <p:nvPicPr>
          <p:cNvPr id="10" name="Image 0" descr="screens/08-integ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91640"/>
            <a:ext cx="5486400" cy="33558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accounts carry no mandate. A documented waiver is not a breach. Missing cost basis means we decline to quote a gain.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RM STAYS AT THE CENTRE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a client without her approval.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written in the client’s own reporting language.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stored with the original AI draft beside it.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she leaves, 23 years of relationship does not leave with 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4846320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297680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the only agent that can veto another. A financial finding can be suppressed by a human fact — never the reverse.</a:t>
            </a:r>
            <a:endParaRPr lang="en-US" sz="1650" dirty="0"/>
          </a:p>
        </p:txBody>
      </p:sp>
      <p:pic>
        <p:nvPicPr>
          <p:cNvPr id="7" name="Image 0" descr="screens/c-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783080"/>
            <a:ext cx="5742432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client-facing draft in Traditional Chinese — every figure in it was computed, and it stays a draft until the RM approves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mic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summarises the meeting and files a note. Ours feeds what was said back into what may be said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 · CONSENT BEFORE RECORDING</a:t>
            </a:r>
            <a:endParaRPr lang="en-US" sz="1100" dirty="0"/>
          </a:p>
        </p:txBody>
      </p:sp>
      <p:pic>
        <p:nvPicPr>
          <p:cNvPr id="7" name="Image 1" descr="screens/c-con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2971800" cy="33375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114800" y="251460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CD0D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34840" y="27249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 ·  FROM THE 28 WRITTEN RM NOTES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4434840" y="31089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“Speak with respect for his entrepreneurial conviction but be direct and grounded in numbers, gently challenging the concentration risk without dismissing his market view.”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0" y="438912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34840" y="4599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·  FROM A CONSENTED TRANSCRIPT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9834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captured before anything records.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concerns extracted from the meeting.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become constraints — so the gate holds a recommendation the client is not ready to hear.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tone analysis runs live on the written notes. No transcript exists in the supplied dataset, so none was fabricated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flat, shares, bond, derivative, job and loan are one bet —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system in the bank could see it.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7168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Priscilla worked it out in March and typed it into a note.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read it.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48456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the notes with the numbers — and we know when the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is still the wrong thing to say.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789920" cy="12802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20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where an RM note changed the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47872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held, each with a reason and a revisit date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72784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this cycle, produced by six agents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97696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8.50m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8997696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cash above mandate, deployable today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38251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8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github.com/jvvinoth/Foresight-RM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RM — Julius Baer Wealth Intelligence</dc:title>
  <dc:subject>PptxGenJS Presentation</dc:subject>
  <dc:creator>Foresight Labs</dc:creator>
  <cp:lastModifiedBy>Foresight Labs</cp:lastModifiedBy>
  <cp:revision>1</cp:revision>
  <dcterms:created xsi:type="dcterms:W3CDTF">2026-09-05T07:48:00Z</dcterms:created>
  <dcterms:modified xsi:type="dcterms:W3CDTF">2026-09-05T07:48:00Z</dcterms:modified>
</cp:coreProperties>
</file>