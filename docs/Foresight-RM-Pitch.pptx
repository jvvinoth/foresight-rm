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Foresight RM. The line on screen is the whole thesis: the information already exists inside the bank. Nothing joins it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here. Six rows, all green, all within limit. This is the state of the 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click. The six rows collapse into one bar. 49% against a 10% limit — and three more exposures that were never in the portfolio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information existed. It sat in three places that never meet. She wrote it down in March.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agents, twelve files. Every figure computed in Python. The model only writes sentences and translates.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wins it. Every other team's AI shouts alerts. Ours knows when to stay quiet, says why, and says when to come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brief asks for what could happen next. These come from the actual credit file, shocked.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will ask whether they can trust the numbers. This is the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Preserving the central role of the RM is in the rubric. For us it is the architecture, not a caveat.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these three sentences. Then hand over to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E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574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spc="8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RM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A3B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already knows. It has never told anyone.</a:t>
            </a:r>
            <a:endParaRPr lang="en-US" sz="23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18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Julius Baer · Wealth Intelligence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718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Labs · SingHacks 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4A5F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clients · 6 agents · 12 data files · 28 RM notes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68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spc="350" kern="0" dirty="0">
                <a:solidFill>
                  <a:srgbClr val="141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HOLDINGS. EVERY ONE INSIDE ITS LIMIT.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 Chi Ming holds an apartment, a share, a bond and a derivative.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shows six tidy rows. Nothing is flagged, because nothing 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individually breaks a rule.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91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41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every wealth platform shows today.</a:t>
            </a:r>
            <a:endParaRPr lang="en-US" sz="1600" dirty="0"/>
          </a:p>
        </p:txBody>
      </p:sp>
      <p:pic>
        <p:nvPicPr>
          <p:cNvPr id="6" name="Image 0" descr="screens/c-reveal-bef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463040"/>
            <a:ext cx="5943600" cy="20482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Screen: Client 360 → Exposure, before the reveal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E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LATER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49.0%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377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D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his wealth is one Hong Kong property developer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566160"/>
            <a:ext cx="44805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A3B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product hid the exposure behind a wrapper.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A3B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loan is secured on the same asset.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A3B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career is Hong Kong property development.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A3B1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owes HKD 60m to a project in November.</a:t>
            </a:r>
            <a:endParaRPr lang="en-US" sz="1350" dirty="0"/>
          </a:p>
        </p:txBody>
      </p:sp>
      <p:pic>
        <p:nvPicPr>
          <p:cNvPr id="6" name="Image 0" descr="screens/c-reveal-af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417320"/>
            <a:ext cx="5943600" cy="23774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23560" y="3977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C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 limit for a single position: 10%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68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NOBODY SAW 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spc="350" kern="0" dirty="0">
                <a:solidFill>
                  <a:srgbClr val="141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SYSTEMS THAT NEVER SPEAK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6F7F9"/>
          </a:solidFill>
          <a:ln w="12700">
            <a:solidFill>
              <a:srgbClr val="CCD0D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121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SYSTEM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487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separate holdings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9626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 fine”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6F7F9"/>
          </a:solidFill>
          <a:ln w="12700">
            <a:solidFill>
              <a:srgbClr val="CCD0D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99432" y="2121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SYSTEM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487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loan, well covered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9626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 fine”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429000" cy="1600200"/>
          </a:xfrm>
          <a:prstGeom prst="roundRect">
            <a:avLst>
              <a:gd name="adj" fmla="val 3429"/>
            </a:avLst>
          </a:prstGeom>
          <a:solidFill>
            <a:srgbClr val="F6F7F9"/>
          </a:solidFill>
          <a:ln w="12700">
            <a:solidFill>
              <a:srgbClr val="CCD0D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02752" y="2121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NOTES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302752" y="24871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nobody queries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302752" y="29626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read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931920"/>
            <a:ext cx="10881360" cy="1874520"/>
          </a:xfrm>
          <a:prstGeom prst="roundRect">
            <a:avLst>
              <a:gd name="adj" fmla="val 2927"/>
            </a:avLst>
          </a:prstGeom>
          <a:solidFill>
            <a:srgbClr val="FBF8F0"/>
          </a:solidFill>
          <a:ln w="12700">
            <a:solidFill>
              <a:srgbClr val="A6843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11480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50" kern="0" dirty="0">
                <a:solidFill>
                  <a:srgbClr val="A68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Relationship Manager had already worked it out.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452628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50" i="1" dirty="0">
                <a:solidFill>
                  <a:srgbClr val="141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perpetual, the shares, the accumulator and his own development business are all the same bet.</a:t>
            </a:r>
            <a:endParaRPr lang="en-US" sz="165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50" i="1" dirty="0">
                <a:solidFill>
                  <a:srgbClr val="141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said that is why he is confident.”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5376672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rm_notes.json · N-018 · 5 March 2026 · P. Ong    —    typed, filed, and never read against the numbers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68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spc="350" kern="0" dirty="0">
                <a:solidFill>
                  <a:srgbClr val="141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AGENTS READ ALL TWELVE FILES TOGETHER</a:t>
            </a:r>
            <a:endParaRPr lang="en-US" sz="3400" dirty="0"/>
          </a:p>
        </p:txBody>
      </p:sp>
      <p:pic>
        <p:nvPicPr>
          <p:cNvPr id="4" name="Image 0" descr="screens/c-s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10881360" cy="2569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663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1D2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MONITOR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919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455164" y="4663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1D2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EXPOSURE</a:t>
            </a:r>
            <a:endParaRPr lang="en-US" sz="950" dirty="0"/>
          </a:p>
        </p:txBody>
      </p:sp>
      <p:sp>
        <p:nvSpPr>
          <p:cNvPr id="8" name="Text 5"/>
          <p:cNvSpPr txBox="1"/>
          <p:nvPr/>
        </p:nvSpPr>
        <p:spPr>
          <a:xfrm>
            <a:off x="2455164" y="4919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really hold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270248" y="4663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1D2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RESILIENCE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4270248" y="4919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first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085332" y="4663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1D2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OPPORTUNITY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6085332" y="4919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unclaimed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7900416" y="4663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1D2A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SUITABILITY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7900416" y="4919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breach or authorised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715500" y="46634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A68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RELATIONSHIP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9715500" y="4919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say it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141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Detectors compute. Agents narrate. No agent originates a number.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Screen: Priority Radar — 20 clients ranked by who needs attention today, not by size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8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DIFFERENTIATOR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spc="350" kern="0" dirty="0">
                <a:solidFill>
                  <a:srgbClr val="141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OVERRULES ITSELF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calls Margarethe a critical breach: 71.46% equity against a 10–30% band. It is right. Relationship objects — she was widowed six months ago and asked that nothing be changed. The gate holds the finding, and gives the RM a different door in.</a:t>
            </a:r>
            <a:endParaRPr lang="en-US" sz="1400" dirty="0"/>
          </a:p>
        </p:txBody>
      </p:sp>
      <p:pic>
        <p:nvPicPr>
          <p:cNvPr id="5" name="Image 0" descr="screens/c-de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792" y="2697480"/>
            <a:ext cx="8659368" cy="36118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Screen: The Desk — every objection is extracted from a dated, attributed RM note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68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HAPPEN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spc="350" kern="0" dirty="0">
                <a:solidFill>
                  <a:srgbClr val="141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5% FALL TRIGGERS THE MARGIN CALL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loan is secured on the very thing he is concentrated in.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usual remedy — sell something to raise cash — makes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worse, not better.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91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323697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C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69.41%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502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−5%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389534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73.06%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9776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8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call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0857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−10%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455371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77.12%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463600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8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call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2669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−20%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5212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86.76%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566160" y="52943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A83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call</a:t>
            </a:r>
            <a:endParaRPr lang="en-US" sz="1100" dirty="0"/>
          </a:p>
        </p:txBody>
      </p:sp>
      <p:pic>
        <p:nvPicPr>
          <p:cNvPr id="16" name="Image 0" descr="screens/c-outl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737360"/>
            <a:ext cx="5943600" cy="264261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623560" y="45720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A68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real lending values — not typed in.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68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BANK COULD RUN THIS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spc="350" kern="0" dirty="0">
                <a:solidFill>
                  <a:srgbClr val="141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IS CHECKABLE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6479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41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1920240" y="198424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data traps in the dataset, each handled in named code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0779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41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312724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every one carrying its file, row and dated note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050792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41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1920240" y="4270248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5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— python backend/verify.py — prints every claim with its source rows</a:t>
            </a:r>
            <a:endParaRPr lang="en-US" sz="1350" dirty="0"/>
          </a:p>
        </p:txBody>
      </p:sp>
      <p:pic>
        <p:nvPicPr>
          <p:cNvPr id="10" name="Image 0" descr="screens/08-integr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691640"/>
            <a:ext cx="5486400" cy="335584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5486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i="1" dirty="0">
                <a:solidFill>
                  <a:srgbClr val="141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accounts carry no mandate. A documented waiver is not a breach. Missing cost basis means we decline to quote a gain.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A68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spc="350" kern="0" dirty="0">
                <a:solidFill>
                  <a:srgbClr val="141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RELATIONSHIP MANAGER STAYS AT THE CENTRE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reaches a client without her approval.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are written in the client’s own reporting language.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approval is stored with the original AI draft beside it.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5E69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she leaves, 23 years of relationship does not leave with 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023360"/>
            <a:ext cx="4846320" cy="1737360"/>
          </a:xfrm>
          <a:prstGeom prst="roundRect">
            <a:avLst>
              <a:gd name="adj" fmla="val 3158"/>
            </a:avLst>
          </a:prstGeom>
          <a:solidFill>
            <a:srgbClr val="FBF8F0"/>
          </a:solidFill>
          <a:ln w="12700">
            <a:solidFill>
              <a:srgbClr val="A684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297680"/>
            <a:ext cx="4343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41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is the only agent that can veto another. A financial finding can be suppressed by a human fact — never the reverse.</a:t>
            </a:r>
            <a:endParaRPr lang="en-US" sz="1500" dirty="0"/>
          </a:p>
        </p:txBody>
      </p:sp>
      <p:pic>
        <p:nvPicPr>
          <p:cNvPr id="7" name="Image 0" descr="screens/c-brie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737360"/>
            <a:ext cx="5760720" cy="2971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0080" y="63550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6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Screen: Conversation brief — drafted in Traditional Chinese, approved by the RM before it is sent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E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9A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 RM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691640"/>
            <a:ext cx="10515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Lau’s flat, shares, bond, derivative, job and loan are one bet —</a:t>
            </a:r>
            <a:endParaRPr lang="en-US" sz="25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no system in the bank could see it.</a:t>
            </a:r>
            <a:endParaRPr lang="en-US" sz="25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5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Priscilla worked it out in March and typed it into a note.</a:t>
            </a:r>
            <a:endParaRPr lang="en-US" sz="25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read it.</a:t>
            </a:r>
            <a:endParaRPr lang="en-US" sz="25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5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read the notes with the numbers — and we know when the</a:t>
            </a:r>
            <a:endParaRPr lang="en-US" sz="25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answer is still the wrong thing to say.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669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186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github.com/jvvinoth/Foresight-RM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Foresight RM — Julius Baer Wealth Intelligence</dc:title>
  <dc:subject>PptxGenJS Presentation</dc:subject>
  <dc:creator>Foresight Labs</dc:creator>
  <cp:lastModifiedBy>Foresight Labs</cp:lastModifiedBy>
  <cp:revision>1</cp:revision>
  <dcterms:created xsi:type="dcterms:W3CDTF">2026-09-05T05:17:56Z</dcterms:created>
  <dcterms:modified xsi:type="dcterms:W3CDTF">2026-09-05T05:17:56Z</dcterms:modified>
</cp:coreProperties>
</file>