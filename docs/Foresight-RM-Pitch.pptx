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Foresight RM. The line on screen is the whole thesis: the information already exists inside the bank. Nothing joins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Six rows, all green, all within limit. This is the state of the 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The six rows collapse into one bar. 49% against a 10% limit — and three more exposures that were never in the portfolio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information existed. It sat in three places that never meet. She wrote it down in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agents, twelve files. Every figure computed in Python. The model only writes sentences and translates.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it. Every other team's AI shouts alerts. Ours knows when to stay quiet, says why, and says when to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what could happen next. These come from the actual credit file, shocked.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is otherwise all risk. This is the relationship half — the reasons to call when nothing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will ask whether they can trust the numbers. This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Preserving the central role of the RM is in the rubric. For us it is the architecture, not a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recorder: consent capture is built, the analysis is built and running on written notes today. The audio input is the piece we did not wire, deliberately, because there is no transcript in the dataset and we were not going to fake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these three sentences. Then hand over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822960" y="2057400"/>
            <a:ext cx="10515600" cy="914400"/>
          </a:xfrm>
          <a:prstGeom prst="rect">
            <a:avLst/>
          </a:prstGeom>
          <a:noFill/>
          <a:ln/>
        </p:spPr>
        <p:txBody>
          <a:bodyPr wrap="square" lIns="0" tIns="0" rIns="0" bIns="0" rtlCol="0" anchor="ctr"/>
          <a:lstStyle/>
          <a:p>
            <a:pPr indent="0" marL="0">
              <a:buNone/>
            </a:pPr>
            <a:r>
              <a:rPr lang="en-US" sz="5200" spc="800" kern="0" dirty="0">
                <a:solidFill>
                  <a:srgbClr val="FFFFFF"/>
                </a:solidFill>
                <a:latin typeface="Calibri" pitchFamily="34" charset="0"/>
                <a:ea typeface="Calibri" pitchFamily="34" charset="-122"/>
                <a:cs typeface="Calibri" pitchFamily="34" charset="-120"/>
              </a:rPr>
              <a:t>FORESIGHT RM</a:t>
            </a:r>
            <a:endParaRPr lang="en-US" sz="5200" dirty="0"/>
          </a:p>
        </p:txBody>
      </p:sp>
      <p:sp>
        <p:nvSpPr>
          <p:cNvPr id="3" name="Text 1"/>
          <p:cNvSpPr txBox="1"/>
          <p:nvPr/>
        </p:nvSpPr>
        <p:spPr>
          <a:xfrm>
            <a:off x="822960" y="3063240"/>
            <a:ext cx="10058400" cy="548640"/>
          </a:xfrm>
          <a:prstGeom prst="rect">
            <a:avLst/>
          </a:prstGeom>
          <a:noFill/>
          <a:ln/>
        </p:spPr>
        <p:txBody>
          <a:bodyPr wrap="square" lIns="0" tIns="0" rIns="0" bIns="0" rtlCol="0" anchor="ctr"/>
          <a:lstStyle/>
          <a:p>
            <a:pPr indent="0" marL="0">
              <a:buNone/>
            </a:pPr>
            <a:r>
              <a:rPr lang="en-US" sz="2300" dirty="0">
                <a:solidFill>
                  <a:srgbClr val="A3B1E5"/>
                </a:solidFill>
                <a:latin typeface="Calibri" pitchFamily="34" charset="0"/>
                <a:ea typeface="Calibri" pitchFamily="34" charset="-122"/>
                <a:cs typeface="Calibri" pitchFamily="34" charset="-120"/>
              </a:rPr>
              <a:t>The bank already knows. It has never told anyone.</a:t>
            </a:r>
            <a:endParaRPr lang="en-US" sz="2300" dirty="0"/>
          </a:p>
        </p:txBody>
      </p:sp>
      <p:sp>
        <p:nvSpPr>
          <p:cNvPr id="4" name="Text 2"/>
          <p:cNvSpPr txBox="1"/>
          <p:nvPr/>
        </p:nvSpPr>
        <p:spPr>
          <a:xfrm>
            <a:off x="822960" y="4114800"/>
            <a:ext cx="7315200" cy="822960"/>
          </a:xfrm>
          <a:prstGeom prst="rect">
            <a:avLst/>
          </a:prstGeom>
          <a:noFill/>
          <a:ln/>
        </p:spPr>
        <p:txBody>
          <a:bodyPr wrap="square" lIns="0" tIns="0" rIns="0" bIns="0" rtlCol="0" anchor="ctr"/>
          <a:lstStyle/>
          <a:p>
            <a:pPr indent="0" marL="0">
              <a:lnSpc>
                <a:spcPts val="2200"/>
              </a:lnSpc>
              <a:buNone/>
            </a:pPr>
            <a:r>
              <a:rPr lang="en-US" sz="1450" dirty="0">
                <a:solidFill>
                  <a:srgbClr val="7186D3"/>
                </a:solidFill>
                <a:latin typeface="Calibri" pitchFamily="34" charset="0"/>
                <a:ea typeface="Calibri" pitchFamily="34" charset="-122"/>
                <a:cs typeface="Calibri" pitchFamily="34" charset="-120"/>
              </a:rPr>
              <a:t>Julius Baer · Wealth Intelligence</a:t>
            </a:r>
            <a:endParaRPr lang="en-US" sz="1450" dirty="0"/>
          </a:p>
          <a:p>
            <a:pPr indent="0" marL="0">
              <a:lnSpc>
                <a:spcPts val="2200"/>
              </a:lnSpc>
              <a:buNone/>
            </a:pPr>
            <a:r>
              <a:rPr lang="en-US" sz="1450" dirty="0">
                <a:solidFill>
                  <a:srgbClr val="7186D3"/>
                </a:solidFill>
                <a:latin typeface="Calibri" pitchFamily="34" charset="0"/>
                <a:ea typeface="Calibri" pitchFamily="34" charset="-122"/>
                <a:cs typeface="Calibri" pitchFamily="34" charset="-120"/>
              </a:rPr>
              <a:t>Foresight Labs · SingHacks 2026</a:t>
            </a:r>
            <a:endParaRPr lang="en-US" sz="1450" dirty="0"/>
          </a:p>
        </p:txBody>
      </p:sp>
      <p:sp>
        <p:nvSpPr>
          <p:cNvPr id="5" name="Text 3"/>
          <p:cNvSpPr txBox="1"/>
          <p:nvPr/>
        </p:nvSpPr>
        <p:spPr>
          <a:xfrm>
            <a:off x="822960" y="5806440"/>
            <a:ext cx="10058400" cy="365760"/>
          </a:xfrm>
          <a:prstGeom prst="rect">
            <a:avLst/>
          </a:prstGeom>
          <a:noFill/>
          <a:ln/>
        </p:spPr>
        <p:txBody>
          <a:bodyPr wrap="square" lIns="0" tIns="0" rIns="0" bIns="0" rtlCol="0" anchor="ctr"/>
          <a:lstStyle/>
          <a:p>
            <a:pPr indent="0" marL="0">
              <a:buNone/>
            </a:pPr>
            <a:r>
              <a:rPr lang="en-US" sz="1350" spc="200" kern="0" dirty="0">
                <a:solidFill>
                  <a:srgbClr val="4A5FBD"/>
                </a:solidFill>
                <a:latin typeface="Calibri" pitchFamily="34" charset="0"/>
                <a:ea typeface="Calibri" pitchFamily="34" charset="-122"/>
                <a:cs typeface="Calibri" pitchFamily="34" charset="-120"/>
              </a:rPr>
              <a:t>20 clients · 6 agents · 12 data files · 28 RM notes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SIX HOLDINGS. EVERY ONE INSIDE ITS LIMIT.</a:t>
            </a:r>
            <a:endParaRPr lang="en-US" sz="3400" dirty="0"/>
          </a:p>
        </p:txBody>
      </p:sp>
      <p:sp>
        <p:nvSpPr>
          <p:cNvPr id="4" name="Text 2"/>
          <p:cNvSpPr txBox="1"/>
          <p:nvPr/>
        </p:nvSpPr>
        <p:spPr>
          <a:xfrm>
            <a:off x="640080" y="1874520"/>
            <a:ext cx="4663440" cy="1280160"/>
          </a:xfrm>
          <a:prstGeom prst="rect">
            <a:avLst/>
          </a:prstGeom>
          <a:noFill/>
          <a:ln/>
        </p:spPr>
        <p:txBody>
          <a:bodyPr wrap="square" lIns="0" tIns="0" rIns="0" bIns="0" rtlCol="0" anchor="ctr"/>
          <a:lstStyle/>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Lau Chi Ming holds an apartment, a share, a bond and a derivative.</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The bank shows six tidy rows. Nothing is flagged, because nothing </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individually breaks a rule.</a:t>
            </a:r>
            <a:endParaRPr lang="en-US" sz="1650" dirty="0"/>
          </a:p>
        </p:txBody>
      </p:sp>
      <p:sp>
        <p:nvSpPr>
          <p:cNvPr id="5" name="Text 3"/>
          <p:cNvSpPr txBox="1"/>
          <p:nvPr/>
        </p:nvSpPr>
        <p:spPr>
          <a:xfrm>
            <a:off x="640080" y="3291840"/>
            <a:ext cx="4663440" cy="548640"/>
          </a:xfrm>
          <a:prstGeom prst="rect">
            <a:avLst/>
          </a:prstGeom>
          <a:noFill/>
          <a:ln/>
        </p:spPr>
        <p:txBody>
          <a:bodyPr wrap="square" lIns="0" tIns="0" rIns="0" bIns="0" rtlCol="0" anchor="ctr"/>
          <a:lstStyle/>
          <a:p>
            <a:pPr indent="0" marL="0">
              <a:buNone/>
            </a:pPr>
            <a:r>
              <a:rPr lang="en-US" sz="1750" i="1" dirty="0">
                <a:solidFill>
                  <a:srgbClr val="141E55"/>
                </a:solidFill>
                <a:latin typeface="Calibri" pitchFamily="34" charset="0"/>
                <a:ea typeface="Calibri" pitchFamily="34" charset="-122"/>
                <a:cs typeface="Calibri" pitchFamily="34" charset="-120"/>
              </a:rPr>
              <a:t>This is what every wealth platform shows today.</a:t>
            </a:r>
            <a:endParaRPr lang="en-US" sz="1750" dirty="0"/>
          </a:p>
        </p:txBody>
      </p:sp>
      <p:pic>
        <p:nvPicPr>
          <p:cNvPr id="6" name="Image 0" descr="screens/c-reveal-before.png">    </p:cNvPr>
          <p:cNvPicPr>
            <a:picLocks noChangeAspect="1"/>
          </p:cNvPicPr>
          <p:nvPr/>
        </p:nvPicPr>
        <p:blipFill>
          <a:blip r:embed="rId1"/>
          <a:stretch>
            <a:fillRect/>
          </a:stretch>
        </p:blipFill>
        <p:spPr>
          <a:xfrm>
            <a:off x="5623560" y="1463040"/>
            <a:ext cx="5943600" cy="2048256"/>
          </a:xfrm>
          <a:prstGeom prst="rect">
            <a:avLst/>
          </a:prstGeom>
        </p:spPr>
      </p:pic>
      <p:sp>
        <p:nvSpPr>
          <p:cNvPr id="7" name="Text 4"/>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Client 360 → Exposure, before the reveal</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C9A94A"/>
                </a:solidFill>
                <a:latin typeface="Calibri" pitchFamily="34" charset="0"/>
                <a:ea typeface="Calibri" pitchFamily="34" charset="-122"/>
                <a:cs typeface="Calibri" pitchFamily="34" charset="-120"/>
              </a:rPr>
              <a:t>ONE CLICK LATER</a:t>
            </a:r>
            <a:endParaRPr lang="en-US" sz="1300" dirty="0"/>
          </a:p>
        </p:txBody>
      </p:sp>
      <p:sp>
        <p:nvSpPr>
          <p:cNvPr id="3" name="Text 1"/>
          <p:cNvSpPr txBox="1"/>
          <p:nvPr/>
        </p:nvSpPr>
        <p:spPr>
          <a:xfrm>
            <a:off x="640080" y="1051560"/>
            <a:ext cx="4572000" cy="1371600"/>
          </a:xfrm>
          <a:prstGeom prst="rect">
            <a:avLst/>
          </a:prstGeom>
          <a:noFill/>
          <a:ln/>
        </p:spPr>
        <p:txBody>
          <a:bodyPr wrap="square" lIns="0" tIns="0" rIns="0" bIns="0" rtlCol="0" anchor="ctr"/>
          <a:lstStyle/>
          <a:p>
            <a:pPr indent="0" marL="0">
              <a:buNone/>
            </a:pPr>
            <a:r>
              <a:rPr lang="en-US" sz="8800" dirty="0">
                <a:solidFill>
                  <a:srgbClr val="FFFFFF"/>
                </a:solidFill>
                <a:latin typeface="Calibri" pitchFamily="34" charset="0"/>
                <a:ea typeface="Calibri" pitchFamily="34" charset="-122"/>
                <a:cs typeface="Calibri" pitchFamily="34" charset="-120"/>
              </a:rPr>
              <a:t>49.0%</a:t>
            </a:r>
            <a:endParaRPr lang="en-US" sz="8800" dirty="0"/>
          </a:p>
        </p:txBody>
      </p:sp>
      <p:sp>
        <p:nvSpPr>
          <p:cNvPr id="4" name="Text 2"/>
          <p:cNvSpPr txBox="1"/>
          <p:nvPr/>
        </p:nvSpPr>
        <p:spPr>
          <a:xfrm>
            <a:off x="658368" y="2377440"/>
            <a:ext cx="4572000" cy="822960"/>
          </a:xfrm>
          <a:prstGeom prst="rect">
            <a:avLst/>
          </a:prstGeom>
          <a:noFill/>
          <a:ln/>
        </p:spPr>
        <p:txBody>
          <a:bodyPr wrap="square" lIns="0" tIns="0" rIns="0" bIns="0" rtlCol="0" anchor="ctr"/>
          <a:lstStyle/>
          <a:p>
            <a:pPr indent="0" marL="0">
              <a:buNone/>
            </a:pPr>
            <a:r>
              <a:rPr lang="en-US" sz="1800" dirty="0">
                <a:solidFill>
                  <a:srgbClr val="CCD5F2"/>
                </a:solidFill>
                <a:latin typeface="Calibri" pitchFamily="34" charset="0"/>
                <a:ea typeface="Calibri" pitchFamily="34" charset="-122"/>
                <a:cs typeface="Calibri" pitchFamily="34" charset="-120"/>
              </a:rPr>
              <a:t>of his wealth is one Hong Kong property developer</a:t>
            </a:r>
            <a:endParaRPr lang="en-US" sz="1800" dirty="0"/>
          </a:p>
        </p:txBody>
      </p:sp>
      <p:sp>
        <p:nvSpPr>
          <p:cNvPr id="5" name="Text 3"/>
          <p:cNvSpPr txBox="1"/>
          <p:nvPr/>
        </p:nvSpPr>
        <p:spPr>
          <a:xfrm>
            <a:off x="777240" y="3566160"/>
            <a:ext cx="4480560" cy="1828800"/>
          </a:xfrm>
          <a:prstGeom prst="rect">
            <a:avLst/>
          </a:prstGeom>
          <a:noFill/>
          <a:ln/>
        </p:spPr>
        <p:txBody>
          <a:bodyPr wrap="square" lIns="0" tIns="0" rIns="0" bIns="0" rtlCol="0" anchor="ctr"/>
          <a:lstStyle/>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A structured product hid the exposure behind a wrapper.</a:t>
            </a:r>
            <a:endParaRPr lang="en-US" sz="1500" dirty="0"/>
          </a:p>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His loan is secured on the same asset.</a:t>
            </a:r>
            <a:endParaRPr lang="en-US" sz="1500" dirty="0"/>
          </a:p>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His career is Hong Kong property development.</a:t>
            </a:r>
            <a:endParaRPr lang="en-US" sz="1500" dirty="0"/>
          </a:p>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He owes HKD 60m to a project in November.</a:t>
            </a:r>
            <a:endParaRPr lang="en-US" sz="1500" dirty="0"/>
          </a:p>
        </p:txBody>
      </p:sp>
      <p:pic>
        <p:nvPicPr>
          <p:cNvPr id="6" name="Image 0" descr="screens/c-reveal-after.png">    </p:cNvPr>
          <p:cNvPicPr>
            <a:picLocks noChangeAspect="1"/>
          </p:cNvPicPr>
          <p:nvPr/>
        </p:nvPicPr>
        <p:blipFill>
          <a:blip r:embed="rId1"/>
          <a:stretch>
            <a:fillRect/>
          </a:stretch>
        </p:blipFill>
        <p:spPr>
          <a:xfrm>
            <a:off x="5623560" y="1417320"/>
            <a:ext cx="5943600" cy="2377440"/>
          </a:xfrm>
          <a:prstGeom prst="rect">
            <a:avLst/>
          </a:prstGeom>
        </p:spPr>
      </p:pic>
      <p:sp>
        <p:nvSpPr>
          <p:cNvPr id="7" name="Text 4"/>
          <p:cNvSpPr txBox="1"/>
          <p:nvPr/>
        </p:nvSpPr>
        <p:spPr>
          <a:xfrm>
            <a:off x="5623560" y="3977640"/>
            <a:ext cx="5943600" cy="365760"/>
          </a:xfrm>
          <a:prstGeom prst="rect">
            <a:avLst/>
          </a:prstGeom>
          <a:noFill/>
          <a:ln/>
        </p:spPr>
        <p:txBody>
          <a:bodyPr wrap="square" lIns="0" tIns="0" rIns="0" bIns="0" rtlCol="0" anchor="ctr"/>
          <a:lstStyle/>
          <a:p>
            <a:pPr indent="0" marL="0">
              <a:buNone/>
            </a:pPr>
            <a:r>
              <a:rPr lang="en-US" sz="1450" spc="100" kern="0" dirty="0">
                <a:solidFill>
                  <a:srgbClr val="C9A94A"/>
                </a:solidFill>
                <a:latin typeface="Calibri" pitchFamily="34" charset="0"/>
                <a:ea typeface="Calibri" pitchFamily="34" charset="-122"/>
                <a:cs typeface="Calibri" pitchFamily="34" charset="-120"/>
              </a:rPr>
              <a:t>Mandate limit for a single position: 10%</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WHY NOBODY SAW IT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THREE SYSTEMS THAT NEVER SPEAK</a:t>
            </a:r>
            <a:endParaRPr lang="en-US" sz="3400" dirty="0"/>
          </a:p>
        </p:txBody>
      </p:sp>
      <p:sp>
        <p:nvSpPr>
          <p:cNvPr id="4" name="Shape 2"/>
          <p:cNvSpPr/>
          <p:nvPr/>
        </p:nvSpPr>
        <p:spPr>
          <a:xfrm>
            <a:off x="640080" y="1920240"/>
            <a:ext cx="3429000" cy="1737360"/>
          </a:xfrm>
          <a:prstGeom prst="roundRect">
            <a:avLst>
              <a:gd name="adj" fmla="val 3158"/>
            </a:avLst>
          </a:prstGeom>
          <a:solidFill>
            <a:srgbClr val="F6F7F9"/>
          </a:solidFill>
          <a:ln w="12700">
            <a:solidFill>
              <a:srgbClr val="CCD0D1"/>
            </a:solidFill>
            <a:prstDash val="solid"/>
          </a:ln>
        </p:spPr>
      </p:sp>
      <p:pic>
        <p:nvPicPr>
          <p:cNvPr id="5" name="Image 0" descr="icons/exposure-navy.png">    </p:cNvPr>
          <p:cNvPicPr>
            <a:picLocks noChangeAspect="1"/>
          </p:cNvPicPr>
          <p:nvPr/>
        </p:nvPicPr>
        <p:blipFill>
          <a:blip r:embed="rId1"/>
          <a:stretch>
            <a:fillRect/>
          </a:stretch>
        </p:blipFill>
        <p:spPr>
          <a:xfrm>
            <a:off x="896112" y="2103120"/>
            <a:ext cx="274320" cy="274320"/>
          </a:xfrm>
          <a:prstGeom prst="rect">
            <a:avLst/>
          </a:prstGeom>
        </p:spPr>
      </p:pic>
      <p:sp>
        <p:nvSpPr>
          <p:cNvPr id="6" name="Text 3"/>
          <p:cNvSpPr txBox="1"/>
          <p:nvPr/>
        </p:nvSpPr>
        <p:spPr>
          <a:xfrm>
            <a:off x="1280160" y="2139696"/>
            <a:ext cx="2560320" cy="274320"/>
          </a:xfrm>
          <a:prstGeom prst="rect">
            <a:avLst/>
          </a:prstGeom>
          <a:noFill/>
          <a:ln/>
        </p:spPr>
        <p:txBody>
          <a:bodyPr wrap="square" lIns="0" tIns="0" rIns="0" bIns="0" rtlCol="0" anchor="ctr"/>
          <a:lstStyle/>
          <a:p>
            <a:pPr indent="0" marL="0">
              <a:buNone/>
            </a:pPr>
            <a:r>
              <a:rPr lang="en-US" sz="1250" spc="200" kern="0" dirty="0">
                <a:solidFill>
                  <a:srgbClr val="5E6976"/>
                </a:solidFill>
                <a:latin typeface="Calibri" pitchFamily="34" charset="0"/>
                <a:ea typeface="Calibri" pitchFamily="34" charset="-122"/>
                <a:cs typeface="Calibri" pitchFamily="34" charset="-120"/>
              </a:rPr>
              <a:t>PORTFOLIO SYSTEM</a:t>
            </a:r>
            <a:endParaRPr lang="en-US" sz="1250" dirty="0"/>
          </a:p>
        </p:txBody>
      </p:sp>
      <p:sp>
        <p:nvSpPr>
          <p:cNvPr id="7" name="Text 4"/>
          <p:cNvSpPr txBox="1"/>
          <p:nvPr/>
        </p:nvSpPr>
        <p:spPr>
          <a:xfrm>
            <a:off x="896112" y="2578608"/>
            <a:ext cx="2926080" cy="365760"/>
          </a:xfrm>
          <a:prstGeom prst="rect">
            <a:avLst/>
          </a:prstGeom>
          <a:noFill/>
          <a:ln/>
        </p:spPr>
        <p:txBody>
          <a:bodyPr wrap="square" lIns="0" tIns="0" rIns="0" bIns="0" rtlCol="0" anchor="ctr"/>
          <a:lstStyle/>
          <a:p>
            <a:pPr indent="0" marL="0">
              <a:buNone/>
            </a:pPr>
            <a:r>
              <a:rPr lang="en-US" sz="1600" dirty="0">
                <a:solidFill>
                  <a:srgbClr val="141E55"/>
                </a:solidFill>
                <a:latin typeface="Calibri" pitchFamily="34" charset="0"/>
                <a:ea typeface="Calibri" pitchFamily="34" charset="-122"/>
                <a:cs typeface="Calibri" pitchFamily="34" charset="-120"/>
              </a:rPr>
              <a:t>Six separate holdings</a:t>
            </a:r>
            <a:endParaRPr lang="en-US" sz="1600" dirty="0"/>
          </a:p>
        </p:txBody>
      </p:sp>
      <p:sp>
        <p:nvSpPr>
          <p:cNvPr id="8" name="Text 5"/>
          <p:cNvSpPr txBox="1"/>
          <p:nvPr/>
        </p:nvSpPr>
        <p:spPr>
          <a:xfrm>
            <a:off x="896112" y="3072384"/>
            <a:ext cx="2926080" cy="365760"/>
          </a:xfrm>
          <a:prstGeom prst="rect">
            <a:avLst/>
          </a:prstGeom>
          <a:noFill/>
          <a:ln/>
        </p:spPr>
        <p:txBody>
          <a:bodyPr wrap="square" lIns="0" tIns="0" rIns="0" bIns="0" rtlCol="0" anchor="ctr"/>
          <a:lstStyle/>
          <a:p>
            <a:pPr indent="0" marL="0">
              <a:buNone/>
            </a:pPr>
            <a:r>
              <a:rPr lang="en-US" sz="1600" i="1" dirty="0">
                <a:solidFill>
                  <a:srgbClr val="2C6A4F"/>
                </a:solidFill>
                <a:latin typeface="Calibri" pitchFamily="34" charset="0"/>
                <a:ea typeface="Calibri" pitchFamily="34" charset="-122"/>
                <a:cs typeface="Calibri" pitchFamily="34" charset="-120"/>
              </a:rPr>
              <a:t>“All fine”</a:t>
            </a:r>
            <a:endParaRPr lang="en-US" sz="1600" dirty="0"/>
          </a:p>
        </p:txBody>
      </p:sp>
      <p:sp>
        <p:nvSpPr>
          <p:cNvPr id="9" name="Shape 6"/>
          <p:cNvSpPr/>
          <p:nvPr/>
        </p:nvSpPr>
        <p:spPr>
          <a:xfrm>
            <a:off x="4343400" y="1920240"/>
            <a:ext cx="3429000" cy="1737360"/>
          </a:xfrm>
          <a:prstGeom prst="roundRect">
            <a:avLst>
              <a:gd name="adj" fmla="val 3158"/>
            </a:avLst>
          </a:prstGeom>
          <a:solidFill>
            <a:srgbClr val="F6F7F9"/>
          </a:solidFill>
          <a:ln w="12700">
            <a:solidFill>
              <a:srgbClr val="CCD0D1"/>
            </a:solidFill>
            <a:prstDash val="solid"/>
          </a:ln>
        </p:spPr>
      </p:sp>
      <p:pic>
        <p:nvPicPr>
          <p:cNvPr id="10" name="Image 1" descr="icons/lock-navy.png">    </p:cNvPr>
          <p:cNvPicPr>
            <a:picLocks noChangeAspect="1"/>
          </p:cNvPicPr>
          <p:nvPr/>
        </p:nvPicPr>
        <p:blipFill>
          <a:blip r:embed="rId2"/>
          <a:stretch>
            <a:fillRect/>
          </a:stretch>
        </p:blipFill>
        <p:spPr>
          <a:xfrm>
            <a:off x="4599432" y="2103120"/>
            <a:ext cx="274320" cy="274320"/>
          </a:xfrm>
          <a:prstGeom prst="rect">
            <a:avLst/>
          </a:prstGeom>
        </p:spPr>
      </p:pic>
      <p:sp>
        <p:nvSpPr>
          <p:cNvPr id="11" name="Text 7"/>
          <p:cNvSpPr txBox="1"/>
          <p:nvPr/>
        </p:nvSpPr>
        <p:spPr>
          <a:xfrm>
            <a:off x="4983480" y="2139696"/>
            <a:ext cx="2560320" cy="274320"/>
          </a:xfrm>
          <a:prstGeom prst="rect">
            <a:avLst/>
          </a:prstGeom>
          <a:noFill/>
          <a:ln/>
        </p:spPr>
        <p:txBody>
          <a:bodyPr wrap="square" lIns="0" tIns="0" rIns="0" bIns="0" rtlCol="0" anchor="ctr"/>
          <a:lstStyle/>
          <a:p>
            <a:pPr indent="0" marL="0">
              <a:buNone/>
            </a:pPr>
            <a:r>
              <a:rPr lang="en-US" sz="1250" spc="200" kern="0" dirty="0">
                <a:solidFill>
                  <a:srgbClr val="5E6976"/>
                </a:solidFill>
                <a:latin typeface="Calibri" pitchFamily="34" charset="0"/>
                <a:ea typeface="Calibri" pitchFamily="34" charset="-122"/>
                <a:cs typeface="Calibri" pitchFamily="34" charset="-120"/>
              </a:rPr>
              <a:t>CREDIT SYSTEM</a:t>
            </a:r>
            <a:endParaRPr lang="en-US" sz="1250" dirty="0"/>
          </a:p>
        </p:txBody>
      </p:sp>
      <p:sp>
        <p:nvSpPr>
          <p:cNvPr id="12" name="Text 8"/>
          <p:cNvSpPr txBox="1"/>
          <p:nvPr/>
        </p:nvSpPr>
        <p:spPr>
          <a:xfrm>
            <a:off x="4599432" y="2578608"/>
            <a:ext cx="2926080" cy="365760"/>
          </a:xfrm>
          <a:prstGeom prst="rect">
            <a:avLst/>
          </a:prstGeom>
          <a:noFill/>
          <a:ln/>
        </p:spPr>
        <p:txBody>
          <a:bodyPr wrap="square" lIns="0" tIns="0" rIns="0" bIns="0" rtlCol="0" anchor="ctr"/>
          <a:lstStyle/>
          <a:p>
            <a:pPr indent="0" marL="0">
              <a:buNone/>
            </a:pPr>
            <a:r>
              <a:rPr lang="en-US" sz="1600" dirty="0">
                <a:solidFill>
                  <a:srgbClr val="141E55"/>
                </a:solidFill>
                <a:latin typeface="Calibri" pitchFamily="34" charset="0"/>
                <a:ea typeface="Calibri" pitchFamily="34" charset="-122"/>
                <a:cs typeface="Calibri" pitchFamily="34" charset="-120"/>
              </a:rPr>
              <a:t>One loan, well covered</a:t>
            </a:r>
            <a:endParaRPr lang="en-US" sz="1600" dirty="0"/>
          </a:p>
        </p:txBody>
      </p:sp>
      <p:sp>
        <p:nvSpPr>
          <p:cNvPr id="13" name="Text 9"/>
          <p:cNvSpPr txBox="1"/>
          <p:nvPr/>
        </p:nvSpPr>
        <p:spPr>
          <a:xfrm>
            <a:off x="4599432" y="3072384"/>
            <a:ext cx="2926080" cy="365760"/>
          </a:xfrm>
          <a:prstGeom prst="rect">
            <a:avLst/>
          </a:prstGeom>
          <a:noFill/>
          <a:ln/>
        </p:spPr>
        <p:txBody>
          <a:bodyPr wrap="square" lIns="0" tIns="0" rIns="0" bIns="0" rtlCol="0" anchor="ctr"/>
          <a:lstStyle/>
          <a:p>
            <a:pPr indent="0" marL="0">
              <a:buNone/>
            </a:pPr>
            <a:r>
              <a:rPr lang="en-US" sz="1600" i="1" dirty="0">
                <a:solidFill>
                  <a:srgbClr val="2C6A4F"/>
                </a:solidFill>
                <a:latin typeface="Calibri" pitchFamily="34" charset="0"/>
                <a:ea typeface="Calibri" pitchFamily="34" charset="-122"/>
                <a:cs typeface="Calibri" pitchFamily="34" charset="-120"/>
              </a:rPr>
              <a:t>“All fine”</a:t>
            </a:r>
            <a:endParaRPr lang="en-US" sz="1600" dirty="0"/>
          </a:p>
        </p:txBody>
      </p:sp>
      <p:sp>
        <p:nvSpPr>
          <p:cNvPr id="14" name="Shape 10"/>
          <p:cNvSpPr/>
          <p:nvPr/>
        </p:nvSpPr>
        <p:spPr>
          <a:xfrm>
            <a:off x="8046720" y="1920240"/>
            <a:ext cx="3429000" cy="1737360"/>
          </a:xfrm>
          <a:prstGeom prst="roundRect">
            <a:avLst>
              <a:gd name="adj" fmla="val 3158"/>
            </a:avLst>
          </a:prstGeom>
          <a:solidFill>
            <a:srgbClr val="F6F7F9"/>
          </a:solidFill>
          <a:ln w="12700">
            <a:solidFill>
              <a:srgbClr val="CCD0D1"/>
            </a:solidFill>
            <a:prstDash val="solid"/>
          </a:ln>
        </p:spPr>
      </p:sp>
      <p:pic>
        <p:nvPicPr>
          <p:cNvPr id="15" name="Image 2" descr="icons/clock-gold.png">    </p:cNvPr>
          <p:cNvPicPr>
            <a:picLocks noChangeAspect="1"/>
          </p:cNvPicPr>
          <p:nvPr/>
        </p:nvPicPr>
        <p:blipFill>
          <a:blip r:embed="rId3"/>
          <a:stretch>
            <a:fillRect/>
          </a:stretch>
        </p:blipFill>
        <p:spPr>
          <a:xfrm>
            <a:off x="8302752" y="2103120"/>
            <a:ext cx="274320" cy="274320"/>
          </a:xfrm>
          <a:prstGeom prst="rect">
            <a:avLst/>
          </a:prstGeom>
        </p:spPr>
      </p:pic>
      <p:sp>
        <p:nvSpPr>
          <p:cNvPr id="16" name="Text 11"/>
          <p:cNvSpPr txBox="1"/>
          <p:nvPr/>
        </p:nvSpPr>
        <p:spPr>
          <a:xfrm>
            <a:off x="8686800" y="2139696"/>
            <a:ext cx="2560320" cy="274320"/>
          </a:xfrm>
          <a:prstGeom prst="rect">
            <a:avLst/>
          </a:prstGeom>
          <a:noFill/>
          <a:ln/>
        </p:spPr>
        <p:txBody>
          <a:bodyPr wrap="square" lIns="0" tIns="0" rIns="0" bIns="0" rtlCol="0" anchor="ctr"/>
          <a:lstStyle/>
          <a:p>
            <a:pPr indent="0" marL="0">
              <a:buNone/>
            </a:pPr>
            <a:r>
              <a:rPr lang="en-US" sz="1250" spc="200" kern="0" dirty="0">
                <a:solidFill>
                  <a:srgbClr val="5E6976"/>
                </a:solidFill>
                <a:latin typeface="Calibri" pitchFamily="34" charset="0"/>
                <a:ea typeface="Calibri" pitchFamily="34" charset="-122"/>
                <a:cs typeface="Calibri" pitchFamily="34" charset="-120"/>
              </a:rPr>
              <a:t>CRM NOTES</a:t>
            </a:r>
            <a:endParaRPr lang="en-US" sz="1250" dirty="0"/>
          </a:p>
        </p:txBody>
      </p:sp>
      <p:sp>
        <p:nvSpPr>
          <p:cNvPr id="17" name="Text 12"/>
          <p:cNvSpPr txBox="1"/>
          <p:nvPr/>
        </p:nvSpPr>
        <p:spPr>
          <a:xfrm>
            <a:off x="8302752" y="2578608"/>
            <a:ext cx="2926080" cy="365760"/>
          </a:xfrm>
          <a:prstGeom prst="rect">
            <a:avLst/>
          </a:prstGeom>
          <a:noFill/>
          <a:ln/>
        </p:spPr>
        <p:txBody>
          <a:bodyPr wrap="square" lIns="0" tIns="0" rIns="0" bIns="0" rtlCol="0" anchor="ctr"/>
          <a:lstStyle/>
          <a:p>
            <a:pPr indent="0" marL="0">
              <a:buNone/>
            </a:pPr>
            <a:r>
              <a:rPr lang="en-US" sz="1600" dirty="0">
                <a:solidFill>
                  <a:srgbClr val="141E55"/>
                </a:solidFill>
                <a:latin typeface="Calibri" pitchFamily="34" charset="0"/>
                <a:ea typeface="Calibri" pitchFamily="34" charset="-122"/>
                <a:cs typeface="Calibri" pitchFamily="34" charset="-120"/>
              </a:rPr>
              <a:t>A note nobody queries</a:t>
            </a:r>
            <a:endParaRPr lang="en-US" sz="1600" dirty="0"/>
          </a:p>
        </p:txBody>
      </p:sp>
      <p:sp>
        <p:nvSpPr>
          <p:cNvPr id="18" name="Text 13"/>
          <p:cNvSpPr txBox="1"/>
          <p:nvPr/>
        </p:nvSpPr>
        <p:spPr>
          <a:xfrm>
            <a:off x="8302752" y="3072384"/>
            <a:ext cx="2926080" cy="365760"/>
          </a:xfrm>
          <a:prstGeom prst="rect">
            <a:avLst/>
          </a:prstGeom>
          <a:noFill/>
          <a:ln/>
        </p:spPr>
        <p:txBody>
          <a:bodyPr wrap="square" lIns="0" tIns="0" rIns="0" bIns="0" rtlCol="0" anchor="ctr"/>
          <a:lstStyle/>
          <a:p>
            <a:pPr indent="0" marL="0">
              <a:buNone/>
            </a:pPr>
            <a:r>
              <a:rPr lang="en-US" sz="1600" i="1" dirty="0">
                <a:solidFill>
                  <a:srgbClr val="A8322B"/>
                </a:solidFill>
                <a:latin typeface="Calibri" pitchFamily="34" charset="0"/>
                <a:ea typeface="Calibri" pitchFamily="34" charset="-122"/>
                <a:cs typeface="Calibri" pitchFamily="34" charset="-120"/>
              </a:rPr>
              <a:t>never read</a:t>
            </a:r>
            <a:endParaRPr lang="en-US" sz="1600" dirty="0"/>
          </a:p>
        </p:txBody>
      </p:sp>
      <p:sp>
        <p:nvSpPr>
          <p:cNvPr id="19" name="Shape 14"/>
          <p:cNvSpPr/>
          <p:nvPr/>
        </p:nvSpPr>
        <p:spPr>
          <a:xfrm>
            <a:off x="640080" y="3931920"/>
            <a:ext cx="10881360" cy="1874520"/>
          </a:xfrm>
          <a:prstGeom prst="roundRect">
            <a:avLst>
              <a:gd name="adj" fmla="val 2927"/>
            </a:avLst>
          </a:prstGeom>
          <a:solidFill>
            <a:srgbClr val="FBF8F0"/>
          </a:solidFill>
          <a:ln w="12700">
            <a:solidFill>
              <a:srgbClr val="A68430"/>
            </a:solidFill>
            <a:prstDash val="solid"/>
          </a:ln>
        </p:spPr>
      </p:sp>
      <p:sp>
        <p:nvSpPr>
          <p:cNvPr id="20" name="Text 15"/>
          <p:cNvSpPr txBox="1"/>
          <p:nvPr/>
        </p:nvSpPr>
        <p:spPr>
          <a:xfrm>
            <a:off x="960120" y="4114800"/>
            <a:ext cx="10241280" cy="365760"/>
          </a:xfrm>
          <a:prstGeom prst="rect">
            <a:avLst/>
          </a:prstGeom>
          <a:noFill/>
          <a:ln/>
        </p:spPr>
        <p:txBody>
          <a:bodyPr wrap="square" lIns="0" tIns="0" rIns="0" bIns="0" rtlCol="0" anchor="ctr"/>
          <a:lstStyle/>
          <a:p>
            <a:pPr indent="0" marL="0">
              <a:buNone/>
            </a:pPr>
            <a:r>
              <a:rPr lang="en-US" sz="1600" spc="150" kern="0" dirty="0">
                <a:solidFill>
                  <a:srgbClr val="A68430"/>
                </a:solidFill>
                <a:latin typeface="Calibri" pitchFamily="34" charset="0"/>
                <a:ea typeface="Calibri" pitchFamily="34" charset="-122"/>
                <a:cs typeface="Calibri" pitchFamily="34" charset="-120"/>
              </a:rPr>
              <a:t>And the Relationship Manager had already worked it out.</a:t>
            </a:r>
            <a:endParaRPr lang="en-US" sz="1600" dirty="0"/>
          </a:p>
        </p:txBody>
      </p:sp>
      <p:sp>
        <p:nvSpPr>
          <p:cNvPr id="21" name="Text 16"/>
          <p:cNvSpPr txBox="1"/>
          <p:nvPr/>
        </p:nvSpPr>
        <p:spPr>
          <a:xfrm>
            <a:off x="960120" y="4526280"/>
            <a:ext cx="10241280" cy="777240"/>
          </a:xfrm>
          <a:prstGeom prst="rect">
            <a:avLst/>
          </a:prstGeom>
          <a:noFill/>
          <a:ln/>
        </p:spPr>
        <p:txBody>
          <a:bodyPr wrap="square" lIns="0" tIns="0" rIns="0" bIns="0" rtlCol="0" anchor="ctr"/>
          <a:lstStyle/>
          <a:p>
            <a:pPr indent="0" marL="0">
              <a:lnSpc>
                <a:spcPts val="2600"/>
              </a:lnSpc>
              <a:buNone/>
            </a:pPr>
            <a:r>
              <a:rPr lang="en-US" sz="1650" i="1" dirty="0">
                <a:solidFill>
                  <a:srgbClr val="141E55"/>
                </a:solidFill>
                <a:latin typeface="Calibri" pitchFamily="34" charset="0"/>
                <a:ea typeface="Calibri" pitchFamily="34" charset="-122"/>
                <a:cs typeface="Calibri" pitchFamily="34" charset="-120"/>
              </a:rPr>
              <a:t>“the perpetual, the shares, the accumulator and his own development business are all the same bet.</a:t>
            </a:r>
            <a:endParaRPr lang="en-US" sz="1650" dirty="0"/>
          </a:p>
          <a:p>
            <a:pPr indent="0" marL="0">
              <a:lnSpc>
                <a:spcPts val="2600"/>
              </a:lnSpc>
              <a:buNone/>
            </a:pPr>
            <a:r>
              <a:rPr lang="en-US" sz="1650" i="1" dirty="0">
                <a:solidFill>
                  <a:srgbClr val="141E55"/>
                </a:solidFill>
                <a:latin typeface="Calibri" pitchFamily="34" charset="0"/>
                <a:ea typeface="Calibri" pitchFamily="34" charset="-122"/>
                <a:cs typeface="Calibri" pitchFamily="34" charset="-120"/>
              </a:rPr>
              <a:t>He said that is why he is confident.”</a:t>
            </a:r>
            <a:endParaRPr lang="en-US" sz="1650" dirty="0"/>
          </a:p>
        </p:txBody>
      </p:sp>
      <p:sp>
        <p:nvSpPr>
          <p:cNvPr id="22" name="Text 17"/>
          <p:cNvSpPr txBox="1"/>
          <p:nvPr/>
        </p:nvSpPr>
        <p:spPr>
          <a:xfrm>
            <a:off x="960120" y="5376672"/>
            <a:ext cx="10241280" cy="274320"/>
          </a:xfrm>
          <a:prstGeom prst="rect">
            <a:avLst/>
          </a:prstGeom>
          <a:noFill/>
          <a:ln/>
        </p:spPr>
        <p:txBody>
          <a:bodyPr wrap="square" lIns="0" tIns="0" rIns="0" bIns="0" rtlCol="0" anchor="ctr"/>
          <a:lstStyle/>
          <a:p>
            <a:pPr indent="0" marL="0">
              <a:buNone/>
            </a:pPr>
            <a:r>
              <a:rPr lang="en-US" sz="1300" dirty="0">
                <a:solidFill>
                  <a:srgbClr val="5E6976"/>
                </a:solidFill>
                <a:latin typeface="Calibri" pitchFamily="34" charset="0"/>
                <a:ea typeface="Calibri" pitchFamily="34" charset="-122"/>
                <a:cs typeface="Calibri" pitchFamily="34" charset="-120"/>
              </a:rPr>
              <a:t>rm_notes.json · N-018 · 5 March 2026 · P. Ong    —    typed, filed, and never read against the numbers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WHAT WE BUILT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SIX AGENTS READ ALL TWELVE FILES TOGETHER</a:t>
            </a:r>
            <a:endParaRPr lang="en-US" sz="3400" dirty="0"/>
          </a:p>
        </p:txBody>
      </p:sp>
      <p:pic>
        <p:nvPicPr>
          <p:cNvPr id="4" name="Image 0" descr="screens/c-stats.png">    </p:cNvPr>
          <p:cNvPicPr>
            <a:picLocks noChangeAspect="1"/>
          </p:cNvPicPr>
          <p:nvPr/>
        </p:nvPicPr>
        <p:blipFill>
          <a:blip r:embed="rId1"/>
          <a:stretch>
            <a:fillRect/>
          </a:stretch>
        </p:blipFill>
        <p:spPr>
          <a:xfrm>
            <a:off x="640080" y="1874520"/>
            <a:ext cx="10881360" cy="2569464"/>
          </a:xfrm>
          <a:prstGeom prst="rect">
            <a:avLst/>
          </a:prstGeom>
        </p:spPr>
      </p:pic>
      <p:sp>
        <p:nvSpPr>
          <p:cNvPr id="5" name="Shape 2"/>
          <p:cNvSpPr/>
          <p:nvPr/>
        </p:nvSpPr>
        <p:spPr>
          <a:xfrm>
            <a:off x="640080" y="4617720"/>
            <a:ext cx="475488" cy="475488"/>
          </a:xfrm>
          <a:prstGeom prst="ellipse">
            <a:avLst/>
          </a:prstGeom>
          <a:solidFill>
            <a:srgbClr val="E6EBF9"/>
          </a:solidFill>
          <a:ln/>
        </p:spPr>
      </p:sp>
      <p:pic>
        <p:nvPicPr>
          <p:cNvPr id="6" name="Image 1" descr="icons/monitor-navy.png">    </p:cNvPr>
          <p:cNvPicPr>
            <a:picLocks noChangeAspect="1"/>
          </p:cNvPicPr>
          <p:nvPr/>
        </p:nvPicPr>
        <p:blipFill>
          <a:blip r:embed="rId2"/>
          <a:stretch>
            <a:fillRect/>
          </a:stretch>
        </p:blipFill>
        <p:spPr>
          <a:xfrm>
            <a:off x="745236" y="4722876"/>
            <a:ext cx="265176" cy="265176"/>
          </a:xfrm>
          <a:prstGeom prst="rect">
            <a:avLst/>
          </a:prstGeom>
        </p:spPr>
      </p:pic>
      <p:sp>
        <p:nvSpPr>
          <p:cNvPr id="7" name="Text 3"/>
          <p:cNvSpPr txBox="1"/>
          <p:nvPr/>
        </p:nvSpPr>
        <p:spPr>
          <a:xfrm>
            <a:off x="640080" y="519379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01 MONITOR</a:t>
            </a:r>
            <a:endParaRPr lang="en-US" sz="1100" dirty="0"/>
          </a:p>
        </p:txBody>
      </p:sp>
      <p:sp>
        <p:nvSpPr>
          <p:cNvPr id="8" name="Text 4"/>
          <p:cNvSpPr txBox="1"/>
          <p:nvPr/>
        </p:nvSpPr>
        <p:spPr>
          <a:xfrm>
            <a:off x="640080" y="544068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changed</a:t>
            </a:r>
            <a:endParaRPr lang="en-US" sz="1250" dirty="0"/>
          </a:p>
        </p:txBody>
      </p:sp>
      <p:sp>
        <p:nvSpPr>
          <p:cNvPr id="9" name="Shape 5"/>
          <p:cNvSpPr/>
          <p:nvPr/>
        </p:nvSpPr>
        <p:spPr>
          <a:xfrm>
            <a:off x="2455164" y="4617720"/>
            <a:ext cx="475488" cy="475488"/>
          </a:xfrm>
          <a:prstGeom prst="ellipse">
            <a:avLst/>
          </a:prstGeom>
          <a:solidFill>
            <a:srgbClr val="E6EBF9"/>
          </a:solidFill>
          <a:ln/>
        </p:spPr>
      </p:sp>
      <p:pic>
        <p:nvPicPr>
          <p:cNvPr id="10" name="Image 2" descr="icons/exposure-navy.png">    </p:cNvPr>
          <p:cNvPicPr>
            <a:picLocks noChangeAspect="1"/>
          </p:cNvPicPr>
          <p:nvPr/>
        </p:nvPicPr>
        <p:blipFill>
          <a:blip r:embed="rId3"/>
          <a:stretch>
            <a:fillRect/>
          </a:stretch>
        </p:blipFill>
        <p:spPr>
          <a:xfrm>
            <a:off x="2560320" y="4722876"/>
            <a:ext cx="265176" cy="265176"/>
          </a:xfrm>
          <a:prstGeom prst="rect">
            <a:avLst/>
          </a:prstGeom>
        </p:spPr>
      </p:pic>
      <p:sp>
        <p:nvSpPr>
          <p:cNvPr id="11" name="Text 6"/>
          <p:cNvSpPr txBox="1"/>
          <p:nvPr/>
        </p:nvSpPr>
        <p:spPr>
          <a:xfrm>
            <a:off x="2455164" y="519379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02 EXPOSURE</a:t>
            </a:r>
            <a:endParaRPr lang="en-US" sz="1100" dirty="0"/>
          </a:p>
        </p:txBody>
      </p:sp>
      <p:sp>
        <p:nvSpPr>
          <p:cNvPr id="12" name="Text 7"/>
          <p:cNvSpPr txBox="1"/>
          <p:nvPr/>
        </p:nvSpPr>
        <p:spPr>
          <a:xfrm>
            <a:off x="2455164" y="544068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they really hold</a:t>
            </a:r>
            <a:endParaRPr lang="en-US" sz="1250" dirty="0"/>
          </a:p>
        </p:txBody>
      </p:sp>
      <p:sp>
        <p:nvSpPr>
          <p:cNvPr id="13" name="Shape 8"/>
          <p:cNvSpPr/>
          <p:nvPr/>
        </p:nvSpPr>
        <p:spPr>
          <a:xfrm>
            <a:off x="4270248" y="4617720"/>
            <a:ext cx="475488" cy="475488"/>
          </a:xfrm>
          <a:prstGeom prst="ellipse">
            <a:avLst/>
          </a:prstGeom>
          <a:solidFill>
            <a:srgbClr val="E6EBF9"/>
          </a:solidFill>
          <a:ln/>
        </p:spPr>
      </p:sp>
      <p:pic>
        <p:nvPicPr>
          <p:cNvPr id="14" name="Image 3" descr="icons/resilience-navy.png">    </p:cNvPr>
          <p:cNvPicPr>
            <a:picLocks noChangeAspect="1"/>
          </p:cNvPicPr>
          <p:nvPr/>
        </p:nvPicPr>
        <p:blipFill>
          <a:blip r:embed="rId4"/>
          <a:stretch>
            <a:fillRect/>
          </a:stretch>
        </p:blipFill>
        <p:spPr>
          <a:xfrm>
            <a:off x="4375404" y="4722876"/>
            <a:ext cx="265176" cy="265176"/>
          </a:xfrm>
          <a:prstGeom prst="rect">
            <a:avLst/>
          </a:prstGeom>
        </p:spPr>
      </p:pic>
      <p:sp>
        <p:nvSpPr>
          <p:cNvPr id="15" name="Text 9"/>
          <p:cNvSpPr txBox="1"/>
          <p:nvPr/>
        </p:nvSpPr>
        <p:spPr>
          <a:xfrm>
            <a:off x="4270248" y="519379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03 RESILIENCE</a:t>
            </a:r>
            <a:endParaRPr lang="en-US" sz="1100" dirty="0"/>
          </a:p>
        </p:txBody>
      </p:sp>
      <p:sp>
        <p:nvSpPr>
          <p:cNvPr id="16" name="Text 10"/>
          <p:cNvSpPr txBox="1"/>
          <p:nvPr/>
        </p:nvSpPr>
        <p:spPr>
          <a:xfrm>
            <a:off x="4270248" y="544068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breaks first</a:t>
            </a:r>
            <a:endParaRPr lang="en-US" sz="1250" dirty="0"/>
          </a:p>
        </p:txBody>
      </p:sp>
      <p:sp>
        <p:nvSpPr>
          <p:cNvPr id="17" name="Shape 11"/>
          <p:cNvSpPr/>
          <p:nvPr/>
        </p:nvSpPr>
        <p:spPr>
          <a:xfrm>
            <a:off x="6085332" y="4617720"/>
            <a:ext cx="475488" cy="475488"/>
          </a:xfrm>
          <a:prstGeom prst="ellipse">
            <a:avLst/>
          </a:prstGeom>
          <a:solidFill>
            <a:srgbClr val="E6EBF9"/>
          </a:solidFill>
          <a:ln/>
        </p:spPr>
      </p:sp>
      <p:pic>
        <p:nvPicPr>
          <p:cNvPr id="18" name="Image 4" descr="icons/opportunity-navy.png">    </p:cNvPr>
          <p:cNvPicPr>
            <a:picLocks noChangeAspect="1"/>
          </p:cNvPicPr>
          <p:nvPr/>
        </p:nvPicPr>
        <p:blipFill>
          <a:blip r:embed="rId5"/>
          <a:stretch>
            <a:fillRect/>
          </a:stretch>
        </p:blipFill>
        <p:spPr>
          <a:xfrm>
            <a:off x="6190488" y="4722876"/>
            <a:ext cx="265176" cy="265176"/>
          </a:xfrm>
          <a:prstGeom prst="rect">
            <a:avLst/>
          </a:prstGeom>
        </p:spPr>
      </p:pic>
      <p:sp>
        <p:nvSpPr>
          <p:cNvPr id="19" name="Text 12"/>
          <p:cNvSpPr txBox="1"/>
          <p:nvPr/>
        </p:nvSpPr>
        <p:spPr>
          <a:xfrm>
            <a:off x="6085332" y="519379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04 OPPORTUNITY</a:t>
            </a:r>
            <a:endParaRPr lang="en-US" sz="1100" dirty="0"/>
          </a:p>
        </p:txBody>
      </p:sp>
      <p:sp>
        <p:nvSpPr>
          <p:cNvPr id="20" name="Text 13"/>
          <p:cNvSpPr txBox="1"/>
          <p:nvPr/>
        </p:nvSpPr>
        <p:spPr>
          <a:xfrm>
            <a:off x="6085332" y="544068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is unclaimed</a:t>
            </a:r>
            <a:endParaRPr lang="en-US" sz="1250" dirty="0"/>
          </a:p>
        </p:txBody>
      </p:sp>
      <p:sp>
        <p:nvSpPr>
          <p:cNvPr id="21" name="Shape 14"/>
          <p:cNvSpPr/>
          <p:nvPr/>
        </p:nvSpPr>
        <p:spPr>
          <a:xfrm>
            <a:off x="7900416" y="4617720"/>
            <a:ext cx="475488" cy="475488"/>
          </a:xfrm>
          <a:prstGeom prst="ellipse">
            <a:avLst/>
          </a:prstGeom>
          <a:solidFill>
            <a:srgbClr val="E6EBF9"/>
          </a:solidFill>
          <a:ln/>
        </p:spPr>
      </p:sp>
      <p:pic>
        <p:nvPicPr>
          <p:cNvPr id="22" name="Image 5" descr="icons/suitability-navy.png">    </p:cNvPr>
          <p:cNvPicPr>
            <a:picLocks noChangeAspect="1"/>
          </p:cNvPicPr>
          <p:nvPr/>
        </p:nvPicPr>
        <p:blipFill>
          <a:blip r:embed="rId6"/>
          <a:stretch>
            <a:fillRect/>
          </a:stretch>
        </p:blipFill>
        <p:spPr>
          <a:xfrm>
            <a:off x="8005572" y="4722876"/>
            <a:ext cx="265176" cy="265176"/>
          </a:xfrm>
          <a:prstGeom prst="rect">
            <a:avLst/>
          </a:prstGeom>
        </p:spPr>
      </p:pic>
      <p:sp>
        <p:nvSpPr>
          <p:cNvPr id="23" name="Text 15"/>
          <p:cNvSpPr txBox="1"/>
          <p:nvPr/>
        </p:nvSpPr>
        <p:spPr>
          <a:xfrm>
            <a:off x="7900416" y="519379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05 SUITABILITY</a:t>
            </a:r>
            <a:endParaRPr lang="en-US" sz="1100" dirty="0"/>
          </a:p>
        </p:txBody>
      </p:sp>
      <p:sp>
        <p:nvSpPr>
          <p:cNvPr id="24" name="Text 16"/>
          <p:cNvSpPr txBox="1"/>
          <p:nvPr/>
        </p:nvSpPr>
        <p:spPr>
          <a:xfrm>
            <a:off x="7900416" y="544068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breach or authorised</a:t>
            </a:r>
            <a:endParaRPr lang="en-US" sz="1250" dirty="0"/>
          </a:p>
        </p:txBody>
      </p:sp>
      <p:sp>
        <p:nvSpPr>
          <p:cNvPr id="25" name="Shape 17"/>
          <p:cNvSpPr/>
          <p:nvPr/>
        </p:nvSpPr>
        <p:spPr>
          <a:xfrm>
            <a:off x="9715500" y="4617720"/>
            <a:ext cx="475488" cy="475488"/>
          </a:xfrm>
          <a:prstGeom prst="ellipse">
            <a:avLst/>
          </a:prstGeom>
          <a:solidFill>
            <a:srgbClr val="F6EFDC"/>
          </a:solidFill>
          <a:ln/>
        </p:spPr>
      </p:sp>
      <p:pic>
        <p:nvPicPr>
          <p:cNvPr id="26" name="Image 6" descr="icons/relationship-gold.png">    </p:cNvPr>
          <p:cNvPicPr>
            <a:picLocks noChangeAspect="1"/>
          </p:cNvPicPr>
          <p:nvPr/>
        </p:nvPicPr>
        <p:blipFill>
          <a:blip r:embed="rId7"/>
          <a:stretch>
            <a:fillRect/>
          </a:stretch>
        </p:blipFill>
        <p:spPr>
          <a:xfrm>
            <a:off x="9820656" y="4722876"/>
            <a:ext cx="265176" cy="265176"/>
          </a:xfrm>
          <a:prstGeom prst="rect">
            <a:avLst/>
          </a:prstGeom>
        </p:spPr>
      </p:pic>
      <p:sp>
        <p:nvSpPr>
          <p:cNvPr id="27" name="Text 18"/>
          <p:cNvSpPr txBox="1"/>
          <p:nvPr/>
        </p:nvSpPr>
        <p:spPr>
          <a:xfrm>
            <a:off x="9715500" y="5193792"/>
            <a:ext cx="1755648" cy="237744"/>
          </a:xfrm>
          <a:prstGeom prst="rect">
            <a:avLst/>
          </a:prstGeom>
          <a:noFill/>
          <a:ln/>
        </p:spPr>
        <p:txBody>
          <a:bodyPr wrap="square" lIns="0" tIns="0" rIns="0" bIns="0" rtlCol="0" anchor="ctr"/>
          <a:lstStyle/>
          <a:p>
            <a:pPr indent="0" marL="0">
              <a:buNone/>
            </a:pPr>
            <a:r>
              <a:rPr lang="en-US" sz="1100" spc="100" kern="0" dirty="0">
                <a:solidFill>
                  <a:srgbClr val="A68430"/>
                </a:solidFill>
                <a:latin typeface="Calibri" pitchFamily="34" charset="0"/>
                <a:ea typeface="Calibri" pitchFamily="34" charset="-122"/>
                <a:cs typeface="Calibri" pitchFamily="34" charset="-120"/>
              </a:rPr>
              <a:t>06 RELATIONSHIP</a:t>
            </a:r>
            <a:endParaRPr lang="en-US" sz="1100" dirty="0"/>
          </a:p>
        </p:txBody>
      </p:sp>
      <p:sp>
        <p:nvSpPr>
          <p:cNvPr id="28" name="Text 19"/>
          <p:cNvSpPr txBox="1"/>
          <p:nvPr/>
        </p:nvSpPr>
        <p:spPr>
          <a:xfrm>
            <a:off x="9715500" y="544068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how to say it</a:t>
            </a:r>
            <a:endParaRPr lang="en-US" sz="1250" dirty="0"/>
          </a:p>
        </p:txBody>
      </p:sp>
      <p:sp>
        <p:nvSpPr>
          <p:cNvPr id="29"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650" spc="100" kern="0" dirty="0">
                <a:solidFill>
                  <a:srgbClr val="141E55"/>
                </a:solidFill>
                <a:latin typeface="Calibri" pitchFamily="34" charset="0"/>
                <a:ea typeface="Calibri" pitchFamily="34" charset="-122"/>
                <a:cs typeface="Calibri" pitchFamily="34" charset="-120"/>
              </a:rPr>
              <a:t>Detectors compute. Agents narrate. No agent originates a number.</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icons/gate-gold.png">    </p:cNvPr>
          <p:cNvPicPr>
            <a:picLocks noChangeAspect="1"/>
          </p:cNvPicPr>
          <p:nvPr/>
        </p:nvPicPr>
        <p:blipFill>
          <a:blip r:embed="rId1"/>
          <a:stretch>
            <a:fillRect/>
          </a:stretch>
        </p:blipFill>
        <p:spPr>
          <a:xfrm>
            <a:off x="640080" y="457200"/>
            <a:ext cx="274320" cy="274320"/>
          </a:xfrm>
          <a:prstGeom prst="rect">
            <a:avLst/>
          </a:prstGeom>
        </p:spPr>
      </p:pic>
      <p:sp>
        <p:nvSpPr>
          <p:cNvPr id="3" name="Text 0"/>
          <p:cNvSpPr txBox="1"/>
          <p:nvPr/>
        </p:nvSpPr>
        <p:spPr>
          <a:xfrm>
            <a:off x="1024128" y="502920"/>
            <a:ext cx="8229600" cy="256032"/>
          </a:xfrm>
          <a:prstGeom prst="rect">
            <a:avLst/>
          </a:prstGeom>
          <a:noFill/>
          <a:ln/>
        </p:spPr>
        <p:txBody>
          <a:bodyPr wrap="square" lIns="0" tIns="0" rIns="0" bIns="0" rtlCol="0" anchor="ctr"/>
          <a:lstStyle/>
          <a:p>
            <a:pPr indent="0" marL="0">
              <a:buNone/>
            </a:pPr>
            <a:r>
              <a:rPr lang="en-US" sz="1300" spc="300" kern="0" dirty="0">
                <a:solidFill>
                  <a:srgbClr val="A8322B"/>
                </a:solidFill>
                <a:latin typeface="Calibri" pitchFamily="34" charset="0"/>
                <a:ea typeface="Calibri" pitchFamily="34" charset="-122"/>
                <a:cs typeface="Calibri" pitchFamily="34" charset="-120"/>
              </a:rPr>
              <a:t>THE DIFFERENTIATOR</a:t>
            </a:r>
            <a:endParaRPr lang="en-US" sz="1300" dirty="0"/>
          </a:p>
        </p:txBody>
      </p:sp>
      <p:sp>
        <p:nvSpPr>
          <p:cNvPr id="4"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OUR AI OVERRULES ITSELF</a:t>
            </a:r>
            <a:endParaRPr lang="en-US" sz="3400" dirty="0"/>
          </a:p>
        </p:txBody>
      </p:sp>
      <p:sp>
        <p:nvSpPr>
          <p:cNvPr id="5" name="Text 2"/>
          <p:cNvSpPr txBox="1"/>
          <p:nvPr/>
        </p:nvSpPr>
        <p:spPr>
          <a:xfrm>
            <a:off x="640080" y="1783080"/>
            <a:ext cx="10881360" cy="777240"/>
          </a:xfrm>
          <a:prstGeom prst="rect">
            <a:avLst/>
          </a:prstGeom>
          <a:noFill/>
          <a:ln/>
        </p:spPr>
        <p:txBody>
          <a:bodyPr wrap="square" lIns="0" tIns="0" rIns="0" bIns="0" rtlCol="0" anchor="ctr"/>
          <a:lstStyle/>
          <a:p>
            <a:pPr indent="0" marL="0">
              <a:lnSpc>
                <a:spcPts val="2400"/>
              </a:lnSpc>
              <a:buNone/>
            </a:pPr>
            <a:r>
              <a:rPr lang="en-US" sz="1600" dirty="0">
                <a:solidFill>
                  <a:srgbClr val="5E6976"/>
                </a:solidFill>
                <a:latin typeface="Calibri" pitchFamily="34" charset="0"/>
                <a:ea typeface="Calibri" pitchFamily="34" charset="-122"/>
                <a:cs typeface="Calibri" pitchFamily="34" charset="-120"/>
              </a:rPr>
              <a:t>Suitability calls Margarethe a critical breach: 71.46% equity against a 10–30% band. It is right. Relationship objects — she was widowed six months ago and asked that nothing be changed. The gate holds the finding, and gives the RM a different door in.</a:t>
            </a:r>
            <a:endParaRPr lang="en-US" sz="1600" dirty="0"/>
          </a:p>
        </p:txBody>
      </p:sp>
      <p:pic>
        <p:nvPicPr>
          <p:cNvPr id="6" name="Image 1" descr="screens/c-desk.png">    </p:cNvPr>
          <p:cNvPicPr>
            <a:picLocks noChangeAspect="1"/>
          </p:cNvPicPr>
          <p:nvPr/>
        </p:nvPicPr>
        <p:blipFill>
          <a:blip r:embed="rId2"/>
          <a:stretch>
            <a:fillRect/>
          </a:stretch>
        </p:blipFill>
        <p:spPr>
          <a:xfrm>
            <a:off x="1764792" y="2697480"/>
            <a:ext cx="8659368" cy="3611880"/>
          </a:xfrm>
          <a:prstGeom prst="rect">
            <a:avLst/>
          </a:prstGeom>
        </p:spPr>
      </p:pic>
      <p:sp>
        <p:nvSpPr>
          <p:cNvPr id="7" name="Text 3"/>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The Desk — every objection is extracted from a dated, attributed RM note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WHAT COULD HAPPEN NEXT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A 5% FALL TRIGGERS THE MARGIN CALL</a:t>
            </a:r>
            <a:endParaRPr lang="en-US" sz="3400" dirty="0"/>
          </a:p>
        </p:txBody>
      </p:sp>
      <p:sp>
        <p:nvSpPr>
          <p:cNvPr id="4" name="Text 2"/>
          <p:cNvSpPr txBox="1"/>
          <p:nvPr/>
        </p:nvSpPr>
        <p:spPr>
          <a:xfrm>
            <a:off x="640080" y="1874520"/>
            <a:ext cx="4480560" cy="1188720"/>
          </a:xfrm>
          <a:prstGeom prst="rect">
            <a:avLst/>
          </a:prstGeom>
          <a:noFill/>
          <a:ln/>
        </p:spPr>
        <p:txBody>
          <a:bodyPr wrap="square" lIns="0" tIns="0" rIns="0" bIns="0" rtlCol="0" anchor="ctr"/>
          <a:lstStyle/>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His loan is secured on the very thing he is concentrated in.</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So the usual remedy — sell something to raise cash — makes</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the ratio worse, not better.</a:t>
            </a:r>
            <a:endParaRPr lang="en-US" sz="1650" dirty="0"/>
          </a:p>
        </p:txBody>
      </p:sp>
      <p:sp>
        <p:nvSpPr>
          <p:cNvPr id="5" name="Text 3"/>
          <p:cNvSpPr txBox="1"/>
          <p:nvPr/>
        </p:nvSpPr>
        <p:spPr>
          <a:xfrm>
            <a:off x="640080" y="3291840"/>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Today</a:t>
            </a:r>
            <a:endParaRPr lang="en-US" sz="1600" dirty="0"/>
          </a:p>
        </p:txBody>
      </p:sp>
      <p:sp>
        <p:nvSpPr>
          <p:cNvPr id="6" name="Text 4"/>
          <p:cNvSpPr txBox="1"/>
          <p:nvPr/>
        </p:nvSpPr>
        <p:spPr>
          <a:xfrm>
            <a:off x="1874520" y="3236976"/>
            <a:ext cx="1645920" cy="457200"/>
          </a:xfrm>
          <a:prstGeom prst="rect">
            <a:avLst/>
          </a:prstGeom>
          <a:noFill/>
          <a:ln/>
        </p:spPr>
        <p:txBody>
          <a:bodyPr wrap="square" lIns="0" tIns="0" rIns="0" bIns="0" rtlCol="0" anchor="ctr"/>
          <a:lstStyle/>
          <a:p>
            <a:pPr indent="0" marL="0">
              <a:buNone/>
            </a:pPr>
            <a:r>
              <a:rPr lang="en-US" sz="2200" dirty="0">
                <a:solidFill>
                  <a:srgbClr val="2C6A4F"/>
                </a:solidFill>
                <a:latin typeface="Calibri" pitchFamily="34" charset="0"/>
                <a:ea typeface="Calibri" pitchFamily="34" charset="-122"/>
                <a:cs typeface="Calibri" pitchFamily="34" charset="-120"/>
              </a:rPr>
              <a:t>69.41%</a:t>
            </a:r>
            <a:endParaRPr lang="en-US" sz="2200" dirty="0"/>
          </a:p>
        </p:txBody>
      </p:sp>
      <p:sp>
        <p:nvSpPr>
          <p:cNvPr id="7" name="Text 5"/>
          <p:cNvSpPr txBox="1"/>
          <p:nvPr/>
        </p:nvSpPr>
        <p:spPr>
          <a:xfrm>
            <a:off x="640080" y="3950208"/>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−5%</a:t>
            </a:r>
            <a:endParaRPr lang="en-US" sz="1600" dirty="0"/>
          </a:p>
        </p:txBody>
      </p:sp>
      <p:sp>
        <p:nvSpPr>
          <p:cNvPr id="8" name="Text 6"/>
          <p:cNvSpPr txBox="1"/>
          <p:nvPr/>
        </p:nvSpPr>
        <p:spPr>
          <a:xfrm>
            <a:off x="1874520" y="3895344"/>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73.06%</a:t>
            </a:r>
            <a:endParaRPr lang="en-US" sz="2200" dirty="0"/>
          </a:p>
        </p:txBody>
      </p:sp>
      <p:sp>
        <p:nvSpPr>
          <p:cNvPr id="9" name="Text 7"/>
          <p:cNvSpPr txBox="1"/>
          <p:nvPr/>
        </p:nvSpPr>
        <p:spPr>
          <a:xfrm>
            <a:off x="3566160" y="3977640"/>
            <a:ext cx="1554480" cy="320040"/>
          </a:xfrm>
          <a:prstGeom prst="rect">
            <a:avLst/>
          </a:prstGeom>
          <a:noFill/>
          <a:ln/>
        </p:spPr>
        <p:txBody>
          <a:bodyPr wrap="square" lIns="0" tIns="0" rIns="0" bIns="0" rtlCol="0" anchor="ctr"/>
          <a:lstStyle/>
          <a:p>
            <a:pPr indent="0" marL="0">
              <a:buNone/>
            </a:pPr>
            <a:r>
              <a:rPr lang="en-US" sz="1300" spc="100" kern="0" dirty="0">
                <a:solidFill>
                  <a:srgbClr val="A8322B"/>
                </a:solidFill>
                <a:latin typeface="Calibri" pitchFamily="34" charset="0"/>
                <a:ea typeface="Calibri" pitchFamily="34" charset="-122"/>
                <a:cs typeface="Calibri" pitchFamily="34" charset="-120"/>
              </a:rPr>
              <a:t>margin call</a:t>
            </a:r>
            <a:endParaRPr lang="en-US" sz="1300" dirty="0"/>
          </a:p>
        </p:txBody>
      </p:sp>
      <p:sp>
        <p:nvSpPr>
          <p:cNvPr id="10" name="Text 8"/>
          <p:cNvSpPr txBox="1"/>
          <p:nvPr/>
        </p:nvSpPr>
        <p:spPr>
          <a:xfrm>
            <a:off x="640080" y="4608576"/>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−10%</a:t>
            </a:r>
            <a:endParaRPr lang="en-US" sz="1600" dirty="0"/>
          </a:p>
        </p:txBody>
      </p:sp>
      <p:sp>
        <p:nvSpPr>
          <p:cNvPr id="11" name="Text 9"/>
          <p:cNvSpPr txBox="1"/>
          <p:nvPr/>
        </p:nvSpPr>
        <p:spPr>
          <a:xfrm>
            <a:off x="1874520" y="4553712"/>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77.12%</a:t>
            </a:r>
            <a:endParaRPr lang="en-US" sz="2200" dirty="0"/>
          </a:p>
        </p:txBody>
      </p:sp>
      <p:sp>
        <p:nvSpPr>
          <p:cNvPr id="12" name="Text 10"/>
          <p:cNvSpPr txBox="1"/>
          <p:nvPr/>
        </p:nvSpPr>
        <p:spPr>
          <a:xfrm>
            <a:off x="3566160" y="4636008"/>
            <a:ext cx="1554480" cy="320040"/>
          </a:xfrm>
          <a:prstGeom prst="rect">
            <a:avLst/>
          </a:prstGeom>
          <a:noFill/>
          <a:ln/>
        </p:spPr>
        <p:txBody>
          <a:bodyPr wrap="square" lIns="0" tIns="0" rIns="0" bIns="0" rtlCol="0" anchor="ctr"/>
          <a:lstStyle/>
          <a:p>
            <a:pPr indent="0" marL="0">
              <a:buNone/>
            </a:pPr>
            <a:r>
              <a:rPr lang="en-US" sz="1300" spc="100" kern="0" dirty="0">
                <a:solidFill>
                  <a:srgbClr val="A8322B"/>
                </a:solidFill>
                <a:latin typeface="Calibri" pitchFamily="34" charset="0"/>
                <a:ea typeface="Calibri" pitchFamily="34" charset="-122"/>
                <a:cs typeface="Calibri" pitchFamily="34" charset="-120"/>
              </a:rPr>
              <a:t>margin call</a:t>
            </a:r>
            <a:endParaRPr lang="en-US" sz="1300" dirty="0"/>
          </a:p>
        </p:txBody>
      </p:sp>
      <p:sp>
        <p:nvSpPr>
          <p:cNvPr id="13" name="Text 11"/>
          <p:cNvSpPr txBox="1"/>
          <p:nvPr/>
        </p:nvSpPr>
        <p:spPr>
          <a:xfrm>
            <a:off x="640080" y="5266944"/>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−20%</a:t>
            </a:r>
            <a:endParaRPr lang="en-US" sz="1600" dirty="0"/>
          </a:p>
        </p:txBody>
      </p:sp>
      <p:sp>
        <p:nvSpPr>
          <p:cNvPr id="14" name="Text 12"/>
          <p:cNvSpPr txBox="1"/>
          <p:nvPr/>
        </p:nvSpPr>
        <p:spPr>
          <a:xfrm>
            <a:off x="1874520" y="5212080"/>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86.76%</a:t>
            </a:r>
            <a:endParaRPr lang="en-US" sz="2200" dirty="0"/>
          </a:p>
        </p:txBody>
      </p:sp>
      <p:sp>
        <p:nvSpPr>
          <p:cNvPr id="15" name="Text 13"/>
          <p:cNvSpPr txBox="1"/>
          <p:nvPr/>
        </p:nvSpPr>
        <p:spPr>
          <a:xfrm>
            <a:off x="3566160" y="5294376"/>
            <a:ext cx="1554480" cy="320040"/>
          </a:xfrm>
          <a:prstGeom prst="rect">
            <a:avLst/>
          </a:prstGeom>
          <a:noFill/>
          <a:ln/>
        </p:spPr>
        <p:txBody>
          <a:bodyPr wrap="square" lIns="0" tIns="0" rIns="0" bIns="0" rtlCol="0" anchor="ctr"/>
          <a:lstStyle/>
          <a:p>
            <a:pPr indent="0" marL="0">
              <a:buNone/>
            </a:pPr>
            <a:r>
              <a:rPr lang="en-US" sz="1300" spc="100" kern="0" dirty="0">
                <a:solidFill>
                  <a:srgbClr val="A8322B"/>
                </a:solidFill>
                <a:latin typeface="Calibri" pitchFamily="34" charset="0"/>
                <a:ea typeface="Calibri" pitchFamily="34" charset="-122"/>
                <a:cs typeface="Calibri" pitchFamily="34" charset="-120"/>
              </a:rPr>
              <a:t>margin call</a:t>
            </a:r>
            <a:endParaRPr lang="en-US" sz="1300" dirty="0"/>
          </a:p>
        </p:txBody>
      </p:sp>
      <p:pic>
        <p:nvPicPr>
          <p:cNvPr id="16" name="Image 0" descr="screens/c-outlook.png">    </p:cNvPr>
          <p:cNvPicPr>
            <a:picLocks noChangeAspect="1"/>
          </p:cNvPicPr>
          <p:nvPr/>
        </p:nvPicPr>
        <p:blipFill>
          <a:blip r:embed="rId1"/>
          <a:stretch>
            <a:fillRect/>
          </a:stretch>
        </p:blipFill>
        <p:spPr>
          <a:xfrm>
            <a:off x="5623560" y="1737360"/>
            <a:ext cx="5943600" cy="2642616"/>
          </a:xfrm>
          <a:prstGeom prst="rect">
            <a:avLst/>
          </a:prstGeom>
        </p:spPr>
      </p:pic>
      <p:sp>
        <p:nvSpPr>
          <p:cNvPr id="17" name="Text 14"/>
          <p:cNvSpPr txBox="1"/>
          <p:nvPr/>
        </p:nvSpPr>
        <p:spPr>
          <a:xfrm>
            <a:off x="5623560" y="4572000"/>
            <a:ext cx="5943600" cy="365760"/>
          </a:xfrm>
          <a:prstGeom prst="rect">
            <a:avLst/>
          </a:prstGeom>
          <a:noFill/>
          <a:ln/>
        </p:spPr>
        <p:txBody>
          <a:bodyPr wrap="square" lIns="0" tIns="0" rIns="0" bIns="0" rtlCol="0" anchor="ctr"/>
          <a:lstStyle/>
          <a:p>
            <a:pPr indent="0" marL="0">
              <a:buNone/>
            </a:pPr>
            <a:r>
              <a:rPr lang="en-US" sz="1450" spc="100" kern="0" dirty="0">
                <a:solidFill>
                  <a:srgbClr val="A68430"/>
                </a:solidFill>
                <a:latin typeface="Calibri" pitchFamily="34" charset="0"/>
                <a:ea typeface="Calibri" pitchFamily="34" charset="-122"/>
                <a:cs typeface="Calibri" pitchFamily="34" charset="-120"/>
              </a:rPr>
              <a:t>Computed from real lending values — not typed in.</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icons/bell-gold.png">    </p:cNvPr>
          <p:cNvPicPr>
            <a:picLocks noChangeAspect="1"/>
          </p:cNvPicPr>
          <p:nvPr/>
        </p:nvPicPr>
        <p:blipFill>
          <a:blip r:embed="rId1"/>
          <a:stretch>
            <a:fillRect/>
          </a:stretch>
        </p:blipFill>
        <p:spPr>
          <a:xfrm>
            <a:off x="640080" y="457200"/>
            <a:ext cx="274320" cy="274320"/>
          </a:xfrm>
          <a:prstGeom prst="rect">
            <a:avLst/>
          </a:prstGeom>
        </p:spPr>
      </p:pic>
      <p:sp>
        <p:nvSpPr>
          <p:cNvPr id="3" name="Text 0"/>
          <p:cNvSpPr txBox="1"/>
          <p:nvPr/>
        </p:nvSpPr>
        <p:spPr>
          <a:xfrm>
            <a:off x="1024128"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THE OTHER HALF OF THE JOB</a:t>
            </a:r>
            <a:endParaRPr lang="en-US" sz="1300" dirty="0"/>
          </a:p>
        </p:txBody>
      </p:sp>
      <p:sp>
        <p:nvSpPr>
          <p:cNvPr id="4"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NOT EVERY REASON TO CALL IS A RISK</a:t>
            </a:r>
            <a:endParaRPr lang="en-US" sz="3400" dirty="0"/>
          </a:p>
        </p:txBody>
      </p:sp>
      <p:sp>
        <p:nvSpPr>
          <p:cNvPr id="5" name="Text 2"/>
          <p:cNvSpPr txBox="1"/>
          <p:nvPr/>
        </p:nvSpPr>
        <p:spPr>
          <a:xfrm>
            <a:off x="640080" y="1828800"/>
            <a:ext cx="5852160" cy="1005840"/>
          </a:xfrm>
          <a:prstGeom prst="rect">
            <a:avLst/>
          </a:prstGeom>
          <a:noFill/>
          <a:ln/>
        </p:spPr>
        <p:txBody>
          <a:bodyPr wrap="square" lIns="0" tIns="0" rIns="0" bIns="0" rtlCol="0" anchor="ctr"/>
          <a:lstStyle/>
          <a:p>
            <a:pPr indent="0" marL="0">
              <a:lnSpc>
                <a:spcPts val="2600"/>
              </a:lnSpc>
              <a:buNone/>
            </a:pPr>
            <a:r>
              <a:rPr lang="en-US" sz="1600" dirty="0">
                <a:solidFill>
                  <a:srgbClr val="5E6976"/>
                </a:solidFill>
                <a:latin typeface="Calibri" pitchFamily="34" charset="0"/>
                <a:ea typeface="Calibri" pitchFamily="34" charset="-122"/>
                <a:cs typeface="Calibri" pitchFamily="34" charset="-120"/>
              </a:rPr>
              <a:t>A risk engine only ever tells her something is wrong. Most of an RM’s job is the opposite — the client she has not spoken to in six months, the review falling due, the festival worth a note in their own language.</a:t>
            </a:r>
            <a:endParaRPr lang="en-US" sz="1600" dirty="0"/>
          </a:p>
        </p:txBody>
      </p:sp>
      <p:sp>
        <p:nvSpPr>
          <p:cNvPr id="6" name="Shape 3"/>
          <p:cNvSpPr/>
          <p:nvPr/>
        </p:nvSpPr>
        <p:spPr>
          <a:xfrm>
            <a:off x="640080" y="3063240"/>
            <a:ext cx="457200" cy="457200"/>
          </a:xfrm>
          <a:prstGeom prst="ellipse">
            <a:avLst/>
          </a:prstGeom>
          <a:solidFill>
            <a:srgbClr val="E6EBF9"/>
          </a:solidFill>
          <a:ln/>
        </p:spPr>
      </p:sp>
      <p:pic>
        <p:nvPicPr>
          <p:cNvPr id="7" name="Image 1" descr="icons/clock-navy.png">    </p:cNvPr>
          <p:cNvPicPr>
            <a:picLocks noChangeAspect="1"/>
          </p:cNvPicPr>
          <p:nvPr/>
        </p:nvPicPr>
        <p:blipFill>
          <a:blip r:embed="rId2"/>
          <a:stretch>
            <a:fillRect/>
          </a:stretch>
        </p:blipFill>
        <p:spPr>
          <a:xfrm>
            <a:off x="740664" y="3163824"/>
            <a:ext cx="256032" cy="256032"/>
          </a:xfrm>
          <a:prstGeom prst="rect">
            <a:avLst/>
          </a:prstGeom>
        </p:spPr>
      </p:pic>
      <p:sp>
        <p:nvSpPr>
          <p:cNvPr id="8" name="Text 4"/>
          <p:cNvSpPr txBox="1"/>
          <p:nvPr/>
        </p:nvSpPr>
        <p:spPr>
          <a:xfrm>
            <a:off x="1280160" y="3026664"/>
            <a:ext cx="5120640" cy="310896"/>
          </a:xfrm>
          <a:prstGeom prst="rect">
            <a:avLst/>
          </a:prstGeom>
          <a:noFill/>
          <a:ln/>
        </p:spPr>
        <p:txBody>
          <a:bodyPr wrap="square" lIns="0" tIns="0" rIns="0" bIns="0" rtlCol="0" anchor="ctr"/>
          <a:lstStyle/>
          <a:p>
            <a:pPr indent="0" marL="0">
              <a:buNone/>
            </a:pPr>
            <a:r>
              <a:rPr lang="en-US" sz="1700" dirty="0">
                <a:solidFill>
                  <a:srgbClr val="141E55"/>
                </a:solidFill>
                <a:latin typeface="Calibri" pitchFamily="34" charset="0"/>
                <a:ea typeface="Calibri" pitchFamily="34" charset="-122"/>
                <a:cs typeface="Calibri" pitchFamily="34" charset="-120"/>
              </a:rPr>
              <a:t>196 days</a:t>
            </a:r>
            <a:endParaRPr lang="en-US" sz="1700" dirty="0"/>
          </a:p>
        </p:txBody>
      </p:sp>
      <p:sp>
        <p:nvSpPr>
          <p:cNvPr id="9" name="Text 5"/>
          <p:cNvSpPr txBox="1"/>
          <p:nvPr/>
        </p:nvSpPr>
        <p:spPr>
          <a:xfrm>
            <a:off x="1280160" y="3355848"/>
            <a:ext cx="5120640" cy="566928"/>
          </a:xfrm>
          <a:prstGeom prst="rect">
            <a:avLst/>
          </a:prstGeom>
          <a:noFill/>
          <a:ln/>
        </p:spPr>
        <p:txBody>
          <a:bodyPr wrap="square" lIns="0" tIns="0" rIns="0" bIns="0" rtlCol="0" anchor="ctr"/>
          <a:lstStyle/>
          <a:p>
            <a:pPr indent="0" marL="0">
              <a:lnSpc>
                <a:spcPts val="1900"/>
              </a:lnSpc>
              <a:buNone/>
            </a:pPr>
            <a:r>
              <a:rPr lang="en-US" sz="1300" dirty="0">
                <a:solidFill>
                  <a:srgbClr val="5E6976"/>
                </a:solidFill>
                <a:latin typeface="Calibri" pitchFamily="34" charset="0"/>
                <a:ea typeface="Calibri" pitchFamily="34" charset="-122"/>
                <a:cs typeface="Calibri" pitchFamily="34" charset="-120"/>
              </a:rPr>
              <a:t>since anyone spoke to Aishah binti Rahman — USD 19.4m, and nothing is wrong</a:t>
            </a:r>
            <a:endParaRPr lang="en-US" sz="1300" dirty="0"/>
          </a:p>
        </p:txBody>
      </p:sp>
      <p:sp>
        <p:nvSpPr>
          <p:cNvPr id="10" name="Shape 6"/>
          <p:cNvSpPr/>
          <p:nvPr/>
        </p:nvSpPr>
        <p:spPr>
          <a:xfrm>
            <a:off x="640080" y="4114800"/>
            <a:ext cx="457200" cy="457200"/>
          </a:xfrm>
          <a:prstGeom prst="ellipse">
            <a:avLst/>
          </a:prstGeom>
          <a:solidFill>
            <a:srgbClr val="E6EBF9"/>
          </a:solidFill>
          <a:ln/>
        </p:spPr>
      </p:sp>
      <p:pic>
        <p:nvPicPr>
          <p:cNvPr id="11" name="Image 2" descr="icons/bell-navy.png">    </p:cNvPr>
          <p:cNvPicPr>
            <a:picLocks noChangeAspect="1"/>
          </p:cNvPicPr>
          <p:nvPr/>
        </p:nvPicPr>
        <p:blipFill>
          <a:blip r:embed="rId3"/>
          <a:stretch>
            <a:fillRect/>
          </a:stretch>
        </p:blipFill>
        <p:spPr>
          <a:xfrm>
            <a:off x="740664" y="4215384"/>
            <a:ext cx="256032" cy="256032"/>
          </a:xfrm>
          <a:prstGeom prst="rect">
            <a:avLst/>
          </a:prstGeom>
        </p:spPr>
      </p:pic>
      <p:sp>
        <p:nvSpPr>
          <p:cNvPr id="12" name="Text 7"/>
          <p:cNvSpPr txBox="1"/>
          <p:nvPr/>
        </p:nvSpPr>
        <p:spPr>
          <a:xfrm>
            <a:off x="1280160" y="4078224"/>
            <a:ext cx="5120640" cy="310896"/>
          </a:xfrm>
          <a:prstGeom prst="rect">
            <a:avLst/>
          </a:prstGeom>
          <a:noFill/>
          <a:ln/>
        </p:spPr>
        <p:txBody>
          <a:bodyPr wrap="square" lIns="0" tIns="0" rIns="0" bIns="0" rtlCol="0" anchor="ctr"/>
          <a:lstStyle/>
          <a:p>
            <a:pPr indent="0" marL="0">
              <a:buNone/>
            </a:pPr>
            <a:r>
              <a:rPr lang="en-US" sz="1700" dirty="0">
                <a:solidFill>
                  <a:srgbClr val="141E55"/>
                </a:solidFill>
                <a:latin typeface="Calibri" pitchFamily="34" charset="0"/>
                <a:ea typeface="Calibri" pitchFamily="34" charset="-122"/>
                <a:cs typeface="Calibri" pitchFamily="34" charset="-120"/>
              </a:rPr>
              <a:t>5 days</a:t>
            </a:r>
            <a:endParaRPr lang="en-US" sz="1700" dirty="0"/>
          </a:p>
        </p:txBody>
      </p:sp>
      <p:sp>
        <p:nvSpPr>
          <p:cNvPr id="13" name="Text 8"/>
          <p:cNvSpPr txBox="1"/>
          <p:nvPr/>
        </p:nvSpPr>
        <p:spPr>
          <a:xfrm>
            <a:off x="1280160" y="4407408"/>
            <a:ext cx="5120640" cy="566928"/>
          </a:xfrm>
          <a:prstGeom prst="rect">
            <a:avLst/>
          </a:prstGeom>
          <a:noFill/>
          <a:ln/>
        </p:spPr>
        <p:txBody>
          <a:bodyPr wrap="square" lIns="0" tIns="0" rIns="0" bIns="0" rtlCol="0" anchor="ctr"/>
          <a:lstStyle/>
          <a:p>
            <a:pPr indent="0" marL="0">
              <a:lnSpc>
                <a:spcPts val="1900"/>
              </a:lnSpc>
              <a:buNone/>
            </a:pPr>
            <a:r>
              <a:rPr lang="en-US" sz="1300" dirty="0">
                <a:solidFill>
                  <a:srgbClr val="5E6976"/>
                </a:solidFill>
                <a:latin typeface="Calibri" pitchFamily="34" charset="0"/>
                <a:ea typeface="Calibri" pitchFamily="34" charset="-122"/>
                <a:cs typeface="Calibri" pitchFamily="34" charset="-120"/>
              </a:rPr>
              <a:t>until Tan Boon Huat’s review falls due, on the anniversary of a 23-year relationship</a:t>
            </a:r>
            <a:endParaRPr lang="en-US" sz="1300" dirty="0"/>
          </a:p>
        </p:txBody>
      </p:sp>
      <p:sp>
        <p:nvSpPr>
          <p:cNvPr id="14" name="Shape 9"/>
          <p:cNvSpPr/>
          <p:nvPr/>
        </p:nvSpPr>
        <p:spPr>
          <a:xfrm>
            <a:off x="640080" y="5166360"/>
            <a:ext cx="457200" cy="457200"/>
          </a:xfrm>
          <a:prstGeom prst="ellipse">
            <a:avLst/>
          </a:prstGeom>
          <a:solidFill>
            <a:srgbClr val="E6EBF9"/>
          </a:solidFill>
          <a:ln/>
        </p:spPr>
      </p:sp>
      <p:pic>
        <p:nvPicPr>
          <p:cNvPr id="15" name="Image 3" descr="icons/globe-navy.png">    </p:cNvPr>
          <p:cNvPicPr>
            <a:picLocks noChangeAspect="1"/>
          </p:cNvPicPr>
          <p:nvPr/>
        </p:nvPicPr>
        <p:blipFill>
          <a:blip r:embed="rId4"/>
          <a:stretch>
            <a:fillRect/>
          </a:stretch>
        </p:blipFill>
        <p:spPr>
          <a:xfrm>
            <a:off x="740664" y="5266944"/>
            <a:ext cx="256032" cy="256032"/>
          </a:xfrm>
          <a:prstGeom prst="rect">
            <a:avLst/>
          </a:prstGeom>
        </p:spPr>
      </p:pic>
      <p:sp>
        <p:nvSpPr>
          <p:cNvPr id="16" name="Text 10"/>
          <p:cNvSpPr txBox="1"/>
          <p:nvPr/>
        </p:nvSpPr>
        <p:spPr>
          <a:xfrm>
            <a:off x="1280160" y="5129784"/>
            <a:ext cx="5120640" cy="310896"/>
          </a:xfrm>
          <a:prstGeom prst="rect">
            <a:avLst/>
          </a:prstGeom>
          <a:noFill/>
          <a:ln/>
        </p:spPr>
        <p:txBody>
          <a:bodyPr wrap="square" lIns="0" tIns="0" rIns="0" bIns="0" rtlCol="0" anchor="ctr"/>
          <a:lstStyle/>
          <a:p>
            <a:pPr indent="0" marL="0">
              <a:buNone/>
            </a:pPr>
            <a:r>
              <a:rPr lang="en-US" sz="1700" dirty="0">
                <a:solidFill>
                  <a:srgbClr val="141E55"/>
                </a:solidFill>
                <a:latin typeface="Calibri" pitchFamily="34" charset="0"/>
                <a:ea typeface="Calibri" pitchFamily="34" charset="-122"/>
                <a:cs typeface="Calibri" pitchFamily="34" charset="-120"/>
              </a:rPr>
              <a:t>Mid-Autumn</a:t>
            </a:r>
            <a:endParaRPr lang="en-US" sz="1700" dirty="0"/>
          </a:p>
        </p:txBody>
      </p:sp>
      <p:sp>
        <p:nvSpPr>
          <p:cNvPr id="17" name="Text 11"/>
          <p:cNvSpPr txBox="1"/>
          <p:nvPr/>
        </p:nvSpPr>
        <p:spPr>
          <a:xfrm>
            <a:off x="1280160" y="5458968"/>
            <a:ext cx="5120640" cy="566928"/>
          </a:xfrm>
          <a:prstGeom prst="rect">
            <a:avLst/>
          </a:prstGeom>
          <a:noFill/>
          <a:ln/>
        </p:spPr>
        <p:txBody>
          <a:bodyPr wrap="square" lIns="0" tIns="0" rIns="0" bIns="0" rtlCol="0" anchor="ctr"/>
          <a:lstStyle/>
          <a:p>
            <a:pPr indent="0" marL="0">
              <a:lnSpc>
                <a:spcPts val="1900"/>
              </a:lnSpc>
              <a:buNone/>
            </a:pPr>
            <a:r>
              <a:rPr lang="en-US" sz="1300" dirty="0">
                <a:solidFill>
                  <a:srgbClr val="5E6976"/>
                </a:solidFill>
                <a:latin typeface="Calibri" pitchFamily="34" charset="0"/>
                <a:ea typeface="Calibri" pitchFamily="34" charset="-122"/>
                <a:cs typeface="Calibri" pitchFamily="34" charset="-120"/>
              </a:rPr>
              <a:t>drafted in Traditional and Simplified Chinese for the clients booked where it is a holiday</a:t>
            </a:r>
            <a:endParaRPr lang="en-US" sz="1300" dirty="0"/>
          </a:p>
        </p:txBody>
      </p:sp>
      <p:pic>
        <p:nvPicPr>
          <p:cNvPr id="18" name="Image 4" descr="screens/c-concierge.png">    </p:cNvPr>
          <p:cNvPicPr>
            <a:picLocks noChangeAspect="1"/>
          </p:cNvPicPr>
          <p:nvPr/>
        </p:nvPicPr>
        <p:blipFill>
          <a:blip r:embed="rId5"/>
          <a:stretch>
            <a:fillRect/>
          </a:stretch>
        </p:blipFill>
        <p:spPr>
          <a:xfrm>
            <a:off x="7360920" y="1371600"/>
            <a:ext cx="2331720" cy="4782312"/>
          </a:xfrm>
          <a:prstGeom prst="rect">
            <a:avLst/>
          </a:prstGeom>
        </p:spPr>
      </p:pic>
      <p:sp>
        <p:nvSpPr>
          <p:cNvPr id="19" name="Text 12"/>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Relationship Concierge — contact gaps, compliance dates and greetings, in one panel</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9"/>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WHY A BANK COULD RUN THIS</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EVERY NUMBER IS CHECKABLE</a:t>
            </a:r>
            <a:endParaRPr lang="en-US" sz="3400" dirty="0"/>
          </a:p>
        </p:txBody>
      </p:sp>
      <p:sp>
        <p:nvSpPr>
          <p:cNvPr id="4" name="Text 2"/>
          <p:cNvSpPr txBox="1"/>
          <p:nvPr/>
        </p:nvSpPr>
        <p:spPr>
          <a:xfrm>
            <a:off x="640080" y="1764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8</a:t>
            </a:r>
            <a:endParaRPr lang="en-US" sz="4400" dirty="0"/>
          </a:p>
        </p:txBody>
      </p:sp>
      <p:sp>
        <p:nvSpPr>
          <p:cNvPr id="5" name="Text 3"/>
          <p:cNvSpPr txBox="1"/>
          <p:nvPr/>
        </p:nvSpPr>
        <p:spPr>
          <a:xfrm>
            <a:off x="1920240" y="1984248"/>
            <a:ext cx="3931920" cy="822960"/>
          </a:xfrm>
          <a:prstGeom prst="rect">
            <a:avLst/>
          </a:prstGeom>
          <a:noFill/>
          <a:ln/>
        </p:spPr>
        <p:txBody>
          <a:bodyPr wrap="square" lIns="0" tIns="0" rIns="0" bIns="0" rtlCol="0" anchor="ctr"/>
          <a:lstStyle/>
          <a:p>
            <a:pPr indent="0" marL="0">
              <a:lnSpc>
                <a:spcPts val="2100"/>
              </a:lnSpc>
              <a:buNone/>
            </a:pPr>
            <a:r>
              <a:rPr lang="en-US" sz="1500" dirty="0">
                <a:solidFill>
                  <a:srgbClr val="5E6976"/>
                </a:solidFill>
                <a:latin typeface="Calibri" pitchFamily="34" charset="0"/>
                <a:ea typeface="Calibri" pitchFamily="34" charset="-122"/>
                <a:cs typeface="Calibri" pitchFamily="34" charset="-120"/>
              </a:rPr>
              <a:t>deliberate data traps in the dataset, each handled in named code</a:t>
            </a:r>
            <a:endParaRPr lang="en-US" sz="1500" dirty="0"/>
          </a:p>
        </p:txBody>
      </p:sp>
      <p:sp>
        <p:nvSpPr>
          <p:cNvPr id="6" name="Text 4"/>
          <p:cNvSpPr txBox="1"/>
          <p:nvPr/>
        </p:nvSpPr>
        <p:spPr>
          <a:xfrm>
            <a:off x="640080" y="2907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48</a:t>
            </a:r>
            <a:endParaRPr lang="en-US" sz="4400" dirty="0"/>
          </a:p>
        </p:txBody>
      </p:sp>
      <p:sp>
        <p:nvSpPr>
          <p:cNvPr id="7" name="Text 5"/>
          <p:cNvSpPr txBox="1"/>
          <p:nvPr/>
        </p:nvSpPr>
        <p:spPr>
          <a:xfrm>
            <a:off x="1920240" y="3127248"/>
            <a:ext cx="3931920" cy="822960"/>
          </a:xfrm>
          <a:prstGeom prst="rect">
            <a:avLst/>
          </a:prstGeom>
          <a:noFill/>
          <a:ln/>
        </p:spPr>
        <p:txBody>
          <a:bodyPr wrap="square" lIns="0" tIns="0" rIns="0" bIns="0" rtlCol="0" anchor="ctr"/>
          <a:lstStyle/>
          <a:p>
            <a:pPr indent="0" marL="0">
              <a:lnSpc>
                <a:spcPts val="2100"/>
              </a:lnSpc>
              <a:buNone/>
            </a:pPr>
            <a:r>
              <a:rPr lang="en-US" sz="1500" dirty="0">
                <a:solidFill>
                  <a:srgbClr val="5E6976"/>
                </a:solidFill>
                <a:latin typeface="Calibri" pitchFamily="34" charset="0"/>
                <a:ea typeface="Calibri" pitchFamily="34" charset="-122"/>
                <a:cs typeface="Calibri" pitchFamily="34" charset="-120"/>
              </a:rPr>
              <a:t>findings, every one carrying its file, row and dated note</a:t>
            </a:r>
            <a:endParaRPr lang="en-US" sz="1500" dirty="0"/>
          </a:p>
        </p:txBody>
      </p:sp>
      <p:sp>
        <p:nvSpPr>
          <p:cNvPr id="8" name="Text 6"/>
          <p:cNvSpPr txBox="1"/>
          <p:nvPr/>
        </p:nvSpPr>
        <p:spPr>
          <a:xfrm>
            <a:off x="640080" y="4050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1</a:t>
            </a:r>
            <a:endParaRPr lang="en-US" sz="4400" dirty="0"/>
          </a:p>
        </p:txBody>
      </p:sp>
      <p:sp>
        <p:nvSpPr>
          <p:cNvPr id="9" name="Text 7"/>
          <p:cNvSpPr txBox="1"/>
          <p:nvPr/>
        </p:nvSpPr>
        <p:spPr>
          <a:xfrm>
            <a:off x="1920240" y="4270248"/>
            <a:ext cx="3931920" cy="822960"/>
          </a:xfrm>
          <a:prstGeom prst="rect">
            <a:avLst/>
          </a:prstGeom>
          <a:noFill/>
          <a:ln/>
        </p:spPr>
        <p:txBody>
          <a:bodyPr wrap="square" lIns="0" tIns="0" rIns="0" bIns="0" rtlCol="0" anchor="ctr"/>
          <a:lstStyle/>
          <a:p>
            <a:pPr indent="0" marL="0">
              <a:lnSpc>
                <a:spcPts val="2100"/>
              </a:lnSpc>
              <a:buNone/>
            </a:pPr>
            <a:r>
              <a:rPr lang="en-US" sz="1500" dirty="0">
                <a:solidFill>
                  <a:srgbClr val="5E6976"/>
                </a:solidFill>
                <a:latin typeface="Calibri" pitchFamily="34" charset="0"/>
                <a:ea typeface="Calibri" pitchFamily="34" charset="-122"/>
                <a:cs typeface="Calibri" pitchFamily="34" charset="-120"/>
              </a:rPr>
              <a:t>command — python backend/verify.py — prints every claim with its source rows</a:t>
            </a:r>
            <a:endParaRPr lang="en-US" sz="1500" dirty="0"/>
          </a:p>
        </p:txBody>
      </p:sp>
      <p:pic>
        <p:nvPicPr>
          <p:cNvPr id="10" name="Image 0" descr="screens/08-integrity.png">    </p:cNvPr>
          <p:cNvPicPr>
            <a:picLocks noChangeAspect="1"/>
          </p:cNvPicPr>
          <p:nvPr/>
        </p:nvPicPr>
        <p:blipFill>
          <a:blip r:embed="rId1"/>
          <a:stretch>
            <a:fillRect/>
          </a:stretch>
        </p:blipFill>
        <p:spPr>
          <a:xfrm>
            <a:off x="6035040" y="1691640"/>
            <a:ext cx="5486400" cy="3355848"/>
          </a:xfrm>
          <a:prstGeom prst="rect">
            <a:avLst/>
          </a:prstGeom>
        </p:spPr>
      </p:pic>
      <p:sp>
        <p:nvSpPr>
          <p:cNvPr id="11" name="Text 8"/>
          <p:cNvSpPr txBox="1"/>
          <p:nvPr/>
        </p:nvSpPr>
        <p:spPr>
          <a:xfrm>
            <a:off x="640080" y="5486400"/>
            <a:ext cx="10881360" cy="548640"/>
          </a:xfrm>
          <a:prstGeom prst="rect">
            <a:avLst/>
          </a:prstGeom>
          <a:noFill/>
          <a:ln/>
        </p:spPr>
        <p:txBody>
          <a:bodyPr wrap="square" lIns="0" tIns="0" rIns="0" bIns="0" rtlCol="0" anchor="ctr"/>
          <a:lstStyle/>
          <a:p>
            <a:pPr indent="0" marL="0">
              <a:lnSpc>
                <a:spcPts val="2200"/>
              </a:lnSpc>
              <a:buNone/>
            </a:pPr>
            <a:r>
              <a:rPr lang="en-US" sz="1600" i="1" dirty="0">
                <a:solidFill>
                  <a:srgbClr val="141E55"/>
                </a:solidFill>
                <a:latin typeface="Calibri" pitchFamily="34" charset="0"/>
                <a:ea typeface="Calibri" pitchFamily="34" charset="-122"/>
                <a:cs typeface="Calibri" pitchFamily="34" charset="-120"/>
              </a:rPr>
              <a:t>Custody accounts carry no mandate. A documented waiver is not a breach. Missing cost basis means we decline to quote a gain.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STRATEGIC IMPACT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THE RELATIONSHIP MANAGER STAYS AT THE CENTRE</a:t>
            </a:r>
            <a:endParaRPr lang="en-US" sz="3400" dirty="0"/>
          </a:p>
        </p:txBody>
      </p:sp>
      <p:sp>
        <p:nvSpPr>
          <p:cNvPr id="4" name="Text 2"/>
          <p:cNvSpPr txBox="1"/>
          <p:nvPr/>
        </p:nvSpPr>
        <p:spPr>
          <a:xfrm>
            <a:off x="777240" y="1874520"/>
            <a:ext cx="4572000" cy="182880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Nothing reaches a client without her approval.</a:t>
            </a:r>
            <a:endParaRPr lang="en-US" sz="1600" dirty="0"/>
          </a:p>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Drafts are written in the client’s own reporting language.</a:t>
            </a:r>
            <a:endParaRPr lang="en-US" sz="1600" dirty="0"/>
          </a:p>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Every approval is stored with the original AI draft beside it.</a:t>
            </a:r>
            <a:endParaRPr lang="en-US" sz="1600" dirty="0"/>
          </a:p>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If she leaves, 23 years of relationship does not leave with her.</a:t>
            </a:r>
            <a:endParaRPr lang="en-US" sz="1600" dirty="0"/>
          </a:p>
        </p:txBody>
      </p:sp>
      <p:sp>
        <p:nvSpPr>
          <p:cNvPr id="5" name="Shape 3"/>
          <p:cNvSpPr/>
          <p:nvPr/>
        </p:nvSpPr>
        <p:spPr>
          <a:xfrm>
            <a:off x="640080" y="4023360"/>
            <a:ext cx="4846320" cy="1737360"/>
          </a:xfrm>
          <a:prstGeom prst="roundRect">
            <a:avLst>
              <a:gd name="adj" fmla="val 3158"/>
            </a:avLst>
          </a:prstGeom>
          <a:solidFill>
            <a:srgbClr val="FBF8F0"/>
          </a:solidFill>
          <a:ln w="12700">
            <a:solidFill>
              <a:srgbClr val="A68430"/>
            </a:solidFill>
            <a:prstDash val="solid"/>
          </a:ln>
        </p:spPr>
      </p:sp>
      <p:sp>
        <p:nvSpPr>
          <p:cNvPr id="6" name="Text 4"/>
          <p:cNvSpPr txBox="1"/>
          <p:nvPr/>
        </p:nvSpPr>
        <p:spPr>
          <a:xfrm>
            <a:off x="914400" y="4297680"/>
            <a:ext cx="4343400" cy="1234440"/>
          </a:xfrm>
          <a:prstGeom prst="rect">
            <a:avLst/>
          </a:prstGeom>
          <a:noFill/>
          <a:ln/>
        </p:spPr>
        <p:txBody>
          <a:bodyPr wrap="square" lIns="0" tIns="0" rIns="0" bIns="0" rtlCol="0" anchor="ctr"/>
          <a:lstStyle/>
          <a:p>
            <a:pPr indent="0" marL="0">
              <a:lnSpc>
                <a:spcPts val="2500"/>
              </a:lnSpc>
              <a:buNone/>
            </a:pPr>
            <a:r>
              <a:rPr lang="en-US" sz="1650" dirty="0">
                <a:solidFill>
                  <a:srgbClr val="141E55"/>
                </a:solidFill>
                <a:latin typeface="Calibri" pitchFamily="34" charset="0"/>
                <a:ea typeface="Calibri" pitchFamily="34" charset="-122"/>
                <a:cs typeface="Calibri" pitchFamily="34" charset="-120"/>
              </a:rPr>
              <a:t>Relationship is the only agent that can veto another. A financial finding can be suppressed by a human fact — never the reverse.</a:t>
            </a:r>
            <a:endParaRPr lang="en-US" sz="1650" dirty="0"/>
          </a:p>
        </p:txBody>
      </p:sp>
      <p:pic>
        <p:nvPicPr>
          <p:cNvPr id="7" name="Image 0" descr="screens/c-brief.png">    </p:cNvPr>
          <p:cNvPicPr>
            <a:picLocks noChangeAspect="1"/>
          </p:cNvPicPr>
          <p:nvPr/>
        </p:nvPicPr>
        <p:blipFill>
          <a:blip r:embed="rId1"/>
          <a:stretch>
            <a:fillRect/>
          </a:stretch>
        </p:blipFill>
        <p:spPr>
          <a:xfrm>
            <a:off x="5806440" y="1737360"/>
            <a:ext cx="5760720" cy="2971800"/>
          </a:xfrm>
          <a:prstGeom prst="rect">
            <a:avLst/>
          </a:prstGeom>
        </p:spPr>
      </p:pic>
      <p:sp>
        <p:nvSpPr>
          <p:cNvPr id="8" name="Text 5"/>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Conversation brief — drafted in Traditional Chinese, approved by the RM before it is sent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9"/>
        </a:solidFill>
      </p:bgPr>
    </p:bg>
    <p:spTree>
      <p:nvGrpSpPr>
        <p:cNvPr id="1" name=""/>
        <p:cNvGrpSpPr/>
        <p:nvPr/>
      </p:nvGrpSpPr>
      <p:grpSpPr>
        <a:xfrm>
          <a:off x="0" y="0"/>
          <a:ext cx="0" cy="0"/>
          <a:chOff x="0" y="0"/>
          <a:chExt cx="0" cy="0"/>
        </a:xfrm>
      </p:grpSpPr>
      <p:pic>
        <p:nvPicPr>
          <p:cNvPr id="2" name="Image 0" descr="icons/mic-navy.png">    </p:cNvPr>
          <p:cNvPicPr>
            <a:picLocks noChangeAspect="1"/>
          </p:cNvPicPr>
          <p:nvPr/>
        </p:nvPicPr>
        <p:blipFill>
          <a:blip r:embed="rId1"/>
          <a:stretch>
            <a:fillRect/>
          </a:stretch>
        </p:blipFill>
        <p:spPr>
          <a:xfrm>
            <a:off x="640080" y="457200"/>
            <a:ext cx="274320" cy="274320"/>
          </a:xfrm>
          <a:prstGeom prst="rect">
            <a:avLst/>
          </a:prstGeom>
        </p:spPr>
      </p:pic>
      <p:sp>
        <p:nvSpPr>
          <p:cNvPr id="3" name="Text 0"/>
          <p:cNvSpPr txBox="1"/>
          <p:nvPr/>
        </p:nvSpPr>
        <p:spPr>
          <a:xfrm>
            <a:off x="1024128"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WHERE THIS GOES NEXT</a:t>
            </a:r>
            <a:endParaRPr lang="en-US" sz="1300" dirty="0"/>
          </a:p>
        </p:txBody>
      </p:sp>
      <p:sp>
        <p:nvSpPr>
          <p:cNvPr id="4"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CLOSING THE LOOP</a:t>
            </a:r>
            <a:endParaRPr lang="en-US" sz="3400" dirty="0"/>
          </a:p>
        </p:txBody>
      </p:sp>
      <p:sp>
        <p:nvSpPr>
          <p:cNvPr id="5" name="Text 2"/>
          <p:cNvSpPr txBox="1"/>
          <p:nvPr/>
        </p:nvSpPr>
        <p:spPr>
          <a:xfrm>
            <a:off x="640080" y="1783080"/>
            <a:ext cx="10881360" cy="731520"/>
          </a:xfrm>
          <a:prstGeom prst="rect">
            <a:avLst/>
          </a:prstGeom>
          <a:noFill/>
          <a:ln/>
        </p:spPr>
        <p:txBody>
          <a:bodyPr wrap="square" lIns="0" tIns="0" rIns="0" bIns="0" rtlCol="0" anchor="ctr"/>
          <a:lstStyle/>
          <a:p>
            <a:pPr indent="0" marL="0">
              <a:lnSpc>
                <a:spcPts val="2400"/>
              </a:lnSpc>
              <a:buNone/>
            </a:pPr>
            <a:r>
              <a:rPr lang="en-US" sz="1600" dirty="0">
                <a:solidFill>
                  <a:srgbClr val="5E6976"/>
                </a:solidFill>
                <a:latin typeface="Calibri" pitchFamily="34" charset="0"/>
                <a:ea typeface="Calibri" pitchFamily="34" charset="-122"/>
                <a:cs typeface="Calibri" pitchFamily="34" charset="-120"/>
              </a:rPr>
              <a:t>The tone analysis already runs. Today it reads the twenty-eight written RM notes and produces the guidance below. Point the same pipeline at a consented meeting transcript and it reads the room instead.</a:t>
            </a:r>
            <a:endParaRPr lang="en-US" sz="1600" dirty="0"/>
          </a:p>
        </p:txBody>
      </p:sp>
      <p:sp>
        <p:nvSpPr>
          <p:cNvPr id="6" name="Shape 3"/>
          <p:cNvSpPr/>
          <p:nvPr/>
        </p:nvSpPr>
        <p:spPr>
          <a:xfrm>
            <a:off x="640080" y="2697480"/>
            <a:ext cx="5349240" cy="2148840"/>
          </a:xfrm>
          <a:prstGeom prst="roundRect">
            <a:avLst>
              <a:gd name="adj" fmla="val 2553"/>
            </a:avLst>
          </a:prstGeom>
          <a:solidFill>
            <a:srgbClr val="FFFFFF"/>
          </a:solidFill>
          <a:ln w="12700">
            <a:solidFill>
              <a:srgbClr val="CCD0D1"/>
            </a:solidFill>
            <a:prstDash val="solid"/>
          </a:ln>
        </p:spPr>
      </p:sp>
      <p:sp>
        <p:nvSpPr>
          <p:cNvPr id="7" name="Text 4"/>
          <p:cNvSpPr txBox="1"/>
          <p:nvPr/>
        </p:nvSpPr>
        <p:spPr>
          <a:xfrm>
            <a:off x="914400" y="2880360"/>
            <a:ext cx="4846320" cy="274320"/>
          </a:xfrm>
          <a:prstGeom prst="rect">
            <a:avLst/>
          </a:prstGeom>
          <a:noFill/>
          <a:ln/>
        </p:spPr>
        <p:txBody>
          <a:bodyPr wrap="square" lIns="0" tIns="0" rIns="0" bIns="0" rtlCol="0" anchor="ctr"/>
          <a:lstStyle/>
          <a:p>
            <a:pPr indent="0" marL="0">
              <a:buNone/>
            </a:pPr>
            <a:r>
              <a:rPr lang="en-US" sz="1250" spc="200" kern="0" dirty="0">
                <a:solidFill>
                  <a:srgbClr val="2C6A4F"/>
                </a:solidFill>
                <a:latin typeface="Calibri" pitchFamily="34" charset="0"/>
                <a:ea typeface="Calibri" pitchFamily="34" charset="-122"/>
                <a:cs typeface="Calibri" pitchFamily="34" charset="-120"/>
              </a:rPr>
              <a:t>LIVE TODAY  ·  FROM WRITTEN NOTES</a:t>
            </a:r>
            <a:endParaRPr lang="en-US" sz="1250" dirty="0"/>
          </a:p>
        </p:txBody>
      </p:sp>
      <p:sp>
        <p:nvSpPr>
          <p:cNvPr id="8" name="Text 5"/>
          <p:cNvSpPr txBox="1"/>
          <p:nvPr/>
        </p:nvSpPr>
        <p:spPr>
          <a:xfrm>
            <a:off x="914400" y="3246120"/>
            <a:ext cx="4846320" cy="1371600"/>
          </a:xfrm>
          <a:prstGeom prst="rect">
            <a:avLst/>
          </a:prstGeom>
          <a:noFill/>
          <a:ln/>
        </p:spPr>
        <p:txBody>
          <a:bodyPr wrap="square" lIns="0" tIns="0" rIns="0" bIns="0" rtlCol="0" anchor="ctr"/>
          <a:lstStyle/>
          <a:p>
            <a:pPr indent="0" marL="0">
              <a:lnSpc>
                <a:spcPts val="2200"/>
              </a:lnSpc>
              <a:buNone/>
            </a:pPr>
            <a:r>
              <a:rPr lang="en-US" sz="1500" i="1" dirty="0">
                <a:solidFill>
                  <a:srgbClr val="141E55"/>
                </a:solidFill>
                <a:latin typeface="Calibri" pitchFamily="34" charset="0"/>
                <a:ea typeface="Calibri" pitchFamily="34" charset="-122"/>
                <a:cs typeface="Calibri" pitchFamily="34" charset="-120"/>
              </a:rPr>
              <a:t>“Speak with respect for his entrepreneurial conviction but be direct and grounded in numbers, gently challenging the concentration risk without dismissing his market view.”</a:t>
            </a:r>
            <a:endParaRPr lang="en-US" sz="1500" dirty="0"/>
          </a:p>
        </p:txBody>
      </p:sp>
      <p:sp>
        <p:nvSpPr>
          <p:cNvPr id="9" name="Shape 6"/>
          <p:cNvSpPr/>
          <p:nvPr/>
        </p:nvSpPr>
        <p:spPr>
          <a:xfrm>
            <a:off x="6172200" y="2697480"/>
            <a:ext cx="5349240" cy="2148840"/>
          </a:xfrm>
          <a:prstGeom prst="roundRect">
            <a:avLst>
              <a:gd name="adj" fmla="val 2553"/>
            </a:avLst>
          </a:prstGeom>
          <a:solidFill>
            <a:srgbClr val="FBF8F0"/>
          </a:solidFill>
          <a:ln w="12700">
            <a:solidFill>
              <a:srgbClr val="A68430"/>
            </a:solidFill>
            <a:prstDash val="solid"/>
          </a:ln>
        </p:spPr>
      </p:sp>
      <p:sp>
        <p:nvSpPr>
          <p:cNvPr id="10" name="Text 7"/>
          <p:cNvSpPr txBox="1"/>
          <p:nvPr/>
        </p:nvSpPr>
        <p:spPr>
          <a:xfrm>
            <a:off x="6446520" y="2880360"/>
            <a:ext cx="4846320" cy="274320"/>
          </a:xfrm>
          <a:prstGeom prst="rect">
            <a:avLst/>
          </a:prstGeom>
          <a:noFill/>
          <a:ln/>
        </p:spPr>
        <p:txBody>
          <a:bodyPr wrap="square" lIns="0" tIns="0" rIns="0" bIns="0" rtlCol="0" anchor="ctr"/>
          <a:lstStyle/>
          <a:p>
            <a:pPr indent="0" marL="0">
              <a:buNone/>
            </a:pPr>
            <a:r>
              <a:rPr lang="en-US" sz="1250" spc="200" kern="0" dirty="0">
                <a:solidFill>
                  <a:srgbClr val="A68430"/>
                </a:solidFill>
                <a:latin typeface="Calibri" pitchFamily="34" charset="0"/>
                <a:ea typeface="Calibri" pitchFamily="34" charset="-122"/>
                <a:cs typeface="Calibri" pitchFamily="34" charset="-120"/>
              </a:rPr>
              <a:t>NEXT  ·  FROM A CONSENTED TRANSCRIPT</a:t>
            </a:r>
            <a:endParaRPr lang="en-US" sz="1250" dirty="0"/>
          </a:p>
        </p:txBody>
      </p:sp>
      <p:sp>
        <p:nvSpPr>
          <p:cNvPr id="11" name="Text 8"/>
          <p:cNvSpPr txBox="1"/>
          <p:nvPr/>
        </p:nvSpPr>
        <p:spPr>
          <a:xfrm>
            <a:off x="6537960" y="3246120"/>
            <a:ext cx="4709160" cy="137160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Consent captured before anything records.</a:t>
            </a:r>
            <a:endParaRPr lang="en-US" sz="1250" dirty="0"/>
          </a:p>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Tone and concerns extracted from the meeting.</a:t>
            </a:r>
            <a:endParaRPr lang="en-US" sz="1250" dirty="0"/>
          </a:p>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Those become constraints — so the gate holds a</a:t>
            </a:r>
            <a:endParaRPr lang="en-US" sz="1250" dirty="0"/>
          </a:p>
          <a:p>
            <a:pPr indent="0" marL="0">
              <a:spcAft>
                <a:spcPts val="700"/>
              </a:spcAft>
              <a:buNone/>
            </a:pPr>
            <a:r>
              <a:rPr lang="en-US" sz="1250" dirty="0">
                <a:solidFill>
                  <a:srgbClr val="5E6976"/>
                </a:solidFill>
                <a:latin typeface="Calibri" pitchFamily="34" charset="0"/>
                <a:ea typeface="Calibri" pitchFamily="34" charset="-122"/>
                <a:cs typeface="Calibri" pitchFamily="34" charset="-120"/>
              </a:rPr>
              <a:t>    recommendation the client is not ready to hear.</a:t>
            </a:r>
            <a:endParaRPr lang="en-US" sz="1250" dirty="0"/>
          </a:p>
        </p:txBody>
      </p:sp>
      <p:pic>
        <p:nvPicPr>
          <p:cNvPr id="12" name="Image 1" descr="screens/c-recorder.png">    </p:cNvPr>
          <p:cNvPicPr>
            <a:picLocks noChangeAspect="1"/>
          </p:cNvPicPr>
          <p:nvPr/>
        </p:nvPicPr>
        <p:blipFill>
          <a:blip r:embed="rId2"/>
          <a:stretch>
            <a:fillRect/>
          </a:stretch>
        </p:blipFill>
        <p:spPr>
          <a:xfrm>
            <a:off x="1234440" y="4983480"/>
            <a:ext cx="969264" cy="1225296"/>
          </a:xfrm>
          <a:prstGeom prst="rect">
            <a:avLst/>
          </a:prstGeom>
        </p:spPr>
      </p:pic>
      <p:pic>
        <p:nvPicPr>
          <p:cNvPr id="13" name="Image 2" descr="screens/c-recording.png">    </p:cNvPr>
          <p:cNvPicPr>
            <a:picLocks noChangeAspect="1"/>
          </p:cNvPicPr>
          <p:nvPr/>
        </p:nvPicPr>
        <p:blipFill>
          <a:blip r:embed="rId3"/>
          <a:stretch>
            <a:fillRect/>
          </a:stretch>
        </p:blipFill>
        <p:spPr>
          <a:xfrm>
            <a:off x="2377440" y="4983480"/>
            <a:ext cx="850392" cy="1225296"/>
          </a:xfrm>
          <a:prstGeom prst="rect">
            <a:avLst/>
          </a:prstGeom>
        </p:spPr>
      </p:pic>
      <p:pic>
        <p:nvPicPr>
          <p:cNvPr id="14" name="Image 3" descr="screens/c-recorder-saved.png">    </p:cNvPr>
          <p:cNvPicPr>
            <a:picLocks noChangeAspect="1"/>
          </p:cNvPicPr>
          <p:nvPr/>
        </p:nvPicPr>
        <p:blipFill>
          <a:blip r:embed="rId4"/>
          <a:stretch>
            <a:fillRect/>
          </a:stretch>
        </p:blipFill>
        <p:spPr>
          <a:xfrm>
            <a:off x="3401568" y="4983480"/>
            <a:ext cx="850392" cy="1225296"/>
          </a:xfrm>
          <a:prstGeom prst="rect">
            <a:avLst/>
          </a:prstGeom>
        </p:spPr>
      </p:pic>
      <p:sp>
        <p:nvSpPr>
          <p:cNvPr id="15" name="Text 9"/>
          <p:cNvSpPr txBox="1"/>
          <p:nvPr/>
        </p:nvSpPr>
        <p:spPr>
          <a:xfrm>
            <a:off x="1234440" y="6263640"/>
            <a:ext cx="3017520" cy="274320"/>
          </a:xfrm>
          <a:prstGeom prst="rect">
            <a:avLst/>
          </a:prstGeom>
          <a:noFill/>
          <a:ln/>
        </p:spPr>
        <p:txBody>
          <a:bodyPr wrap="square" lIns="0" tIns="0" rIns="0" bIns="0" rtlCol="0" anchor="ctr"/>
          <a:lstStyle/>
          <a:p>
            <a:pPr algn="ctr" indent="0" marL="0">
              <a:buNone/>
            </a:pPr>
            <a:r>
              <a:rPr lang="en-US" sz="1100" spc="200" kern="0" dirty="0">
                <a:solidFill>
                  <a:srgbClr val="5E6976"/>
                </a:solidFill>
                <a:latin typeface="Calibri" pitchFamily="34" charset="0"/>
                <a:ea typeface="Calibri" pitchFamily="34" charset="-122"/>
                <a:cs typeface="Calibri" pitchFamily="34" charset="-120"/>
              </a:rPr>
              <a:t>consent  ·  capture  ·  filed</a:t>
            </a:r>
            <a:endParaRPr lang="en-US" sz="1100" dirty="0"/>
          </a:p>
        </p:txBody>
      </p:sp>
      <p:sp>
        <p:nvSpPr>
          <p:cNvPr id="16" name="Text 10"/>
          <p:cNvSpPr txBox="1"/>
          <p:nvPr/>
        </p:nvSpPr>
        <p:spPr>
          <a:xfrm>
            <a:off x="4846320" y="5120640"/>
            <a:ext cx="6675120" cy="914400"/>
          </a:xfrm>
          <a:prstGeom prst="rect">
            <a:avLst/>
          </a:prstGeom>
          <a:noFill/>
          <a:ln/>
        </p:spPr>
        <p:txBody>
          <a:bodyPr wrap="square" lIns="0" tIns="0" rIns="0" bIns="0" rtlCol="0" anchor="ctr"/>
          <a:lstStyle/>
          <a:p>
            <a:pPr indent="0" marL="0">
              <a:lnSpc>
                <a:spcPts val="2800"/>
              </a:lnSpc>
              <a:buNone/>
            </a:pPr>
            <a:r>
              <a:rPr lang="en-US" sz="1750" dirty="0">
                <a:solidFill>
                  <a:srgbClr val="141E55"/>
                </a:solidFill>
                <a:latin typeface="Calibri" pitchFamily="34" charset="0"/>
                <a:ea typeface="Calibri" pitchFamily="34" charset="-122"/>
                <a:cs typeface="Calibri" pitchFamily="34" charset="-120"/>
              </a:rPr>
              <a:t>Every other tool summarises the meeting and files a note.</a:t>
            </a:r>
            <a:endParaRPr lang="en-US" sz="1750" dirty="0"/>
          </a:p>
          <a:p>
            <a:pPr indent="0" marL="0">
              <a:lnSpc>
                <a:spcPts val="2800"/>
              </a:lnSpc>
              <a:buNone/>
            </a:pPr>
            <a:r>
              <a:rPr lang="en-US" sz="1750" dirty="0">
                <a:solidFill>
                  <a:srgbClr val="141E55"/>
                </a:solidFill>
                <a:latin typeface="Calibri" pitchFamily="34" charset="0"/>
                <a:ea typeface="Calibri" pitchFamily="34" charset="-122"/>
                <a:cs typeface="Calibri" pitchFamily="34" charset="-120"/>
              </a:rPr>
              <a:t>Ours feeds what was said back into what may be said next.</a:t>
            </a:r>
            <a:endParaRPr lang="en-US" sz="1750" dirty="0"/>
          </a:p>
        </p:txBody>
      </p:sp>
      <p:sp>
        <p:nvSpPr>
          <p:cNvPr id="17" name="Text 11"/>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No transcript exists in the supplied dataset, so none was fabricated — the analysis runs on the real notes instead</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822960" y="685800"/>
            <a:ext cx="8229600" cy="256032"/>
          </a:xfrm>
          <a:prstGeom prst="rect">
            <a:avLst/>
          </a:prstGeom>
          <a:noFill/>
          <a:ln/>
        </p:spPr>
        <p:txBody>
          <a:bodyPr wrap="square" lIns="0" tIns="0" rIns="0" bIns="0" rtlCol="0" anchor="ctr"/>
          <a:lstStyle/>
          <a:p>
            <a:pPr indent="0" marL="0">
              <a:buNone/>
            </a:pPr>
            <a:r>
              <a:rPr lang="en-US" sz="1300" spc="300" kern="0" dirty="0">
                <a:solidFill>
                  <a:srgbClr val="C9A94A"/>
                </a:solidFill>
                <a:latin typeface="Calibri" pitchFamily="34" charset="0"/>
                <a:ea typeface="Calibri" pitchFamily="34" charset="-122"/>
                <a:cs typeface="Calibri" pitchFamily="34" charset="-120"/>
              </a:rPr>
              <a:t>FORESIGHT RM</a:t>
            </a:r>
            <a:endParaRPr lang="en-US" sz="1300" dirty="0"/>
          </a:p>
        </p:txBody>
      </p:sp>
      <p:sp>
        <p:nvSpPr>
          <p:cNvPr id="3" name="Text 1"/>
          <p:cNvSpPr txBox="1"/>
          <p:nvPr/>
        </p:nvSpPr>
        <p:spPr>
          <a:xfrm>
            <a:off x="822960" y="1691640"/>
            <a:ext cx="10515600" cy="3291840"/>
          </a:xfrm>
          <a:prstGeom prst="rect">
            <a:avLst/>
          </a:prstGeom>
          <a:noFill/>
          <a:ln/>
        </p:spPr>
        <p:txBody>
          <a:bodyPr wrap="square" lIns="0" tIns="0" rIns="0" bIns="0" rtlCol="0" anchor="ctr"/>
          <a:lstStyle/>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Lau’s flat, shares, bond, derivative, job and loan are one bet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and no system in the bank could see it.</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Priscilla worked it out in March and typed it into a note.</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Nothing read it.</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We read the notes with the numbers — and we know when the</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right answer is still the wrong thing to say.</a:t>
            </a:r>
            <a:endParaRPr lang="en-US" sz="2500" dirty="0"/>
          </a:p>
        </p:txBody>
      </p:sp>
      <p:sp>
        <p:nvSpPr>
          <p:cNvPr id="4" name="Text 2"/>
          <p:cNvSpPr txBox="1"/>
          <p:nvPr/>
        </p:nvSpPr>
        <p:spPr>
          <a:xfrm>
            <a:off x="822960" y="5669280"/>
            <a:ext cx="10515600" cy="365760"/>
          </a:xfrm>
          <a:prstGeom prst="rect">
            <a:avLst/>
          </a:prstGeom>
          <a:noFill/>
          <a:ln/>
        </p:spPr>
        <p:txBody>
          <a:bodyPr wrap="square" lIns="0" tIns="0" rIns="0" bIns="0" rtlCol="0" anchor="ctr"/>
          <a:lstStyle/>
          <a:p>
            <a:pPr indent="0" marL="0">
              <a:buNone/>
            </a:pPr>
            <a:r>
              <a:rPr lang="en-US" sz="1450" dirty="0">
                <a:solidFill>
                  <a:srgbClr val="7186D3"/>
                </a:solidFill>
                <a:latin typeface="Calibri" pitchFamily="34" charset="0"/>
                <a:ea typeface="Calibri" pitchFamily="34" charset="-122"/>
                <a:cs typeface="Calibri" pitchFamily="34" charset="-120"/>
              </a:rPr>
              <a:t>github.com/jvvinoth/Foresight-RM</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Foresight RM — Julius Baer Wealth Intelligence</dc:title>
  <dc:subject>PptxGenJS Presentation</dc:subject>
  <dc:creator>Foresight Labs</dc:creator>
  <cp:lastModifiedBy>Foresight Labs</cp:lastModifiedBy>
  <cp:revision>1</cp:revision>
  <dcterms:created xsi:type="dcterms:W3CDTF">2026-09-05T05:56:37Z</dcterms:created>
  <dcterms:modified xsi:type="dcterms:W3CDTF">2026-09-05T05:56:37Z</dcterms:modified>
</cp:coreProperties>
</file>